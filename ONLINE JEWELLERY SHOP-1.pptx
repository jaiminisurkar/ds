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96" r:id="rId1"/>
  </p:sldMasterIdLst>
  <p:sldIdLst>
    <p:sldId id="263" r:id="rId2"/>
    <p:sldId id="264" r:id="rId3"/>
    <p:sldId id="265" r:id="rId4"/>
    <p:sldId id="266" r:id="rId5"/>
    <p:sldId id="267" r:id="rId6"/>
    <p:sldId id="268" r:id="rId7"/>
    <p:sldId id="269" r:id="rId8"/>
    <p:sldId id="270" r:id="rId9"/>
    <p:sldId id="271" r:id="rId10"/>
    <p:sldId id="272" r:id="rId11"/>
    <p:sldId id="273" r:id="rId12"/>
    <p:sldId id="288" r:id="rId13"/>
    <p:sldId id="276" r:id="rId14"/>
    <p:sldId id="277" r:id="rId15"/>
    <p:sldId id="278" r:id="rId16"/>
    <p:sldId id="279" r:id="rId17"/>
    <p:sldId id="280" r:id="rId18"/>
    <p:sldId id="287"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vertBarState="maximized">
    <p:restoredLeft sz="15620"/>
    <p:restoredTop sz="94660"/>
  </p:normalViewPr>
  <p:slideViewPr>
    <p:cSldViewPr>
      <p:cViewPr varScale="1">
        <p:scale>
          <a:sx n="82" d="100"/>
          <a:sy n="82" d="100"/>
        </p:scale>
        <p:origin x="-1330" y="-91"/>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D0754347-DF20-4B0A-88F8-D6486CE5D68D}" type="datetimeFigureOut">
              <a:rPr lang="en-US" smtClean="0"/>
              <a:pPr/>
              <a:t>3/21/2024</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CFD06776-896E-45C4-BAD8-0DC5293793EC}"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0754347-DF20-4B0A-88F8-D6486CE5D68D}" type="datetimeFigureOut">
              <a:rPr lang="en-US" smtClean="0"/>
              <a:pPr/>
              <a:t>3/21/2024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D06776-896E-45C4-BAD8-0DC5293793E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D0754347-DF20-4B0A-88F8-D6486CE5D68D}" type="datetimeFigureOut">
              <a:rPr lang="en-US" smtClean="0"/>
              <a:pPr/>
              <a:t>3/21/2024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D06776-896E-45C4-BAD8-0DC5293793EC}"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D0754347-DF20-4B0A-88F8-D6486CE5D68D}" type="datetimeFigureOut">
              <a:rPr lang="en-US" smtClean="0"/>
              <a:pPr/>
              <a:t>3/21/2024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D06776-896E-45C4-BAD8-0DC5293793E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D0754347-DF20-4B0A-88F8-D6486CE5D68D}" type="datetimeFigureOut">
              <a:rPr lang="en-US" smtClean="0"/>
              <a:pPr/>
              <a:t>3/21/2024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FD06776-896E-45C4-BAD8-0DC5293793EC}"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D0754347-DF20-4B0A-88F8-D6486CE5D68D}" type="datetimeFigureOut">
              <a:rPr lang="en-US" smtClean="0"/>
              <a:pPr/>
              <a:t>3/21/2024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FD06776-896E-45C4-BAD8-0DC5293793E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754347-DF20-4B0A-88F8-D6486CE5D68D}" type="datetimeFigureOut">
              <a:rPr lang="en-US" smtClean="0"/>
              <a:pPr/>
              <a:t>3/21/2024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FD06776-896E-45C4-BAD8-0DC5293793E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D0754347-DF20-4B0A-88F8-D6486CE5D68D}" type="datetimeFigureOut">
              <a:rPr lang="en-US" smtClean="0"/>
              <a:pPr/>
              <a:t>3/21/2024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D06776-896E-45C4-BAD8-0DC5293793EC}"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D0754347-DF20-4B0A-88F8-D6486CE5D68D}" type="datetimeFigureOut">
              <a:rPr lang="en-US" smtClean="0"/>
              <a:pPr/>
              <a:t>3/21/2024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CFD06776-896E-45C4-BAD8-0DC5293793EC}"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0754347-DF20-4B0A-88F8-D6486CE5D68D}" type="datetimeFigureOut">
              <a:rPr lang="en-US" smtClean="0"/>
              <a:pPr/>
              <a:t>3/21/2024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D06776-896E-45C4-BAD8-0DC5293793E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0754347-DF20-4B0A-88F8-D6486CE5D68D}" type="datetimeFigureOut">
              <a:rPr lang="en-US" smtClean="0"/>
              <a:pPr/>
              <a:t>3/21/2024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D06776-896E-45C4-BAD8-0DC5293793E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D0754347-DF20-4B0A-88F8-D6486CE5D68D}" type="datetimeFigureOut">
              <a:rPr lang="en-US" smtClean="0"/>
              <a:pPr/>
              <a:t>3/21/2024</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CFD06776-896E-45C4-BAD8-0DC5293793EC}"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997" r:id="rId1"/>
    <p:sldLayoutId id="2147483998" r:id="rId2"/>
    <p:sldLayoutId id="2147483999" r:id="rId3"/>
    <p:sldLayoutId id="2147484000" r:id="rId4"/>
    <p:sldLayoutId id="2147484001" r:id="rId5"/>
    <p:sldLayoutId id="2147484002" r:id="rId6"/>
    <p:sldLayoutId id="2147484003" r:id="rId7"/>
    <p:sldLayoutId id="2147484004" r:id="rId8"/>
    <p:sldLayoutId id="2147484005" r:id="rId9"/>
    <p:sldLayoutId id="2147484006" r:id="rId10"/>
    <p:sldLayoutId id="2147484007"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IN" dirty="0" smtClean="0"/>
              <a:t/>
            </a:r>
            <a:br>
              <a:rPr lang="en-IN" dirty="0" smtClean="0"/>
            </a:br>
            <a:r>
              <a:rPr lang="en-IN" dirty="0" smtClean="0"/>
              <a:t/>
            </a:r>
            <a:br>
              <a:rPr lang="en-IN" dirty="0" smtClean="0"/>
            </a:br>
            <a:r>
              <a:rPr lang="en-IN" dirty="0" smtClean="0"/>
              <a:t/>
            </a:r>
            <a:br>
              <a:rPr lang="en-IN" dirty="0" smtClean="0"/>
            </a:br>
            <a:r>
              <a:rPr lang="en-IN" dirty="0" smtClean="0"/>
              <a:t/>
            </a:r>
            <a:br>
              <a:rPr lang="en-IN" dirty="0" smtClean="0"/>
            </a:br>
            <a:r>
              <a:rPr lang="en-IN" dirty="0" smtClean="0"/>
              <a:t/>
            </a:r>
            <a:br>
              <a:rPr lang="en-IN" dirty="0" smtClean="0"/>
            </a:br>
            <a:r>
              <a:rPr lang="en-IN" dirty="0" smtClean="0"/>
              <a:t>ONLINE JEWELLERY SHOP</a:t>
            </a:r>
            <a:br>
              <a:rPr lang="en-IN" dirty="0" smtClean="0"/>
            </a:br>
            <a:r>
              <a:rPr lang="en-IN" dirty="0" smtClean="0"/>
              <a:t>Tanishq jewellery</a:t>
            </a:r>
            <a:endParaRPr lang="en-US" dirty="0"/>
          </a:p>
        </p:txBody>
      </p:sp>
      <p:pic>
        <p:nvPicPr>
          <p:cNvPr id="4" name="Content Placeholder 3" descr="1.jpg"/>
          <p:cNvPicPr>
            <a:picLocks noGrp="1" noChangeAspect="1"/>
          </p:cNvPicPr>
          <p:nvPr>
            <p:ph idx="1"/>
          </p:nvPr>
        </p:nvPicPr>
        <p:blipFill>
          <a:blip r:embed="rId2" cstate="print"/>
          <a:stretch>
            <a:fillRect/>
          </a:stretch>
        </p:blipFill>
        <p:spPr>
          <a:xfrm>
            <a:off x="457200" y="2010136"/>
            <a:ext cx="8229600" cy="4239491"/>
          </a:xfr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62000"/>
            <a:ext cx="8153400" cy="1085088"/>
          </a:xfrm>
        </p:spPr>
        <p:txBody>
          <a:bodyPr>
            <a:normAutofit fontScale="90000"/>
          </a:bodyPr>
          <a:lstStyle/>
          <a:p>
            <a:pPr algn="ctr"/>
            <a:r>
              <a:rPr lang="en-IN" dirty="0" smtClean="0"/>
              <a:t/>
            </a:r>
            <a:br>
              <a:rPr lang="en-IN" dirty="0" smtClean="0"/>
            </a:br>
            <a:r>
              <a:rPr lang="en-IN" dirty="0" smtClean="0"/>
              <a:t/>
            </a:r>
            <a:br>
              <a:rPr lang="en-IN" dirty="0" smtClean="0"/>
            </a:br>
            <a:r>
              <a:rPr lang="en-IN" dirty="0" smtClean="0"/>
              <a:t/>
            </a:r>
            <a:br>
              <a:rPr lang="en-IN" dirty="0" smtClean="0"/>
            </a:br>
            <a:r>
              <a:rPr lang="en-IN" dirty="0" smtClean="0"/>
              <a:t/>
            </a:r>
            <a:br>
              <a:rPr lang="en-IN" dirty="0" smtClean="0"/>
            </a:br>
            <a:r>
              <a:rPr lang="en-IN" dirty="0" smtClean="0"/>
              <a:t/>
            </a:r>
            <a:br>
              <a:rPr lang="en-IN" dirty="0" smtClean="0"/>
            </a:br>
            <a:r>
              <a:rPr lang="en-IN" dirty="0" smtClean="0"/>
              <a:t/>
            </a:r>
            <a:br>
              <a:rPr lang="en-IN" dirty="0" smtClean="0"/>
            </a:br>
            <a:r>
              <a:rPr lang="en-IN" dirty="0" smtClean="0"/>
              <a:t/>
            </a:r>
            <a:br>
              <a:rPr lang="en-IN" dirty="0" smtClean="0"/>
            </a:br>
            <a:r>
              <a:rPr lang="en-IN" dirty="0" smtClean="0"/>
              <a:t/>
            </a:r>
            <a:br>
              <a:rPr lang="en-IN" dirty="0" smtClean="0"/>
            </a:br>
            <a:r>
              <a:rPr lang="en-IN" dirty="0" smtClean="0"/>
              <a:t/>
            </a:r>
            <a:br>
              <a:rPr lang="en-IN" dirty="0" smtClean="0"/>
            </a:br>
            <a:r>
              <a:rPr lang="en-IN" dirty="0" smtClean="0"/>
              <a:t/>
            </a:r>
            <a:br>
              <a:rPr lang="en-IN" dirty="0" smtClean="0"/>
            </a:br>
            <a:r>
              <a:rPr lang="en-IN" dirty="0" smtClean="0"/>
              <a:t/>
            </a:r>
            <a:br>
              <a:rPr lang="en-IN" dirty="0" smtClean="0"/>
            </a:br>
            <a:r>
              <a:rPr lang="en-IN" dirty="0" smtClean="0"/>
              <a:t/>
            </a:r>
            <a:br>
              <a:rPr lang="en-IN" dirty="0" smtClean="0"/>
            </a:br>
            <a:r>
              <a:rPr lang="en-IN" dirty="0" smtClean="0"/>
              <a:t>Project Profile</a:t>
            </a:r>
            <a:r>
              <a:rPr lang="en-US" dirty="0" smtClean="0"/>
              <a:t/>
            </a:r>
            <a:br>
              <a:rPr lang="en-US" dirty="0" smtClean="0"/>
            </a:br>
            <a:endParaRPr lang="en-US" dirty="0"/>
          </a:p>
        </p:txBody>
      </p:sp>
      <p:graphicFrame>
        <p:nvGraphicFramePr>
          <p:cNvPr id="4" name="Table 3"/>
          <p:cNvGraphicFramePr>
            <a:graphicFrameLocks noGrp="1"/>
          </p:cNvGraphicFramePr>
          <p:nvPr/>
        </p:nvGraphicFramePr>
        <p:xfrm>
          <a:off x="1219200" y="1676397"/>
          <a:ext cx="6553200" cy="4876805"/>
        </p:xfrm>
        <a:graphic>
          <a:graphicData uri="http://schemas.openxmlformats.org/drawingml/2006/table">
            <a:tbl>
              <a:tblPr/>
              <a:tblGrid>
                <a:gridCol w="2054787"/>
                <a:gridCol w="4498413"/>
              </a:tblGrid>
              <a:tr h="434105">
                <a:tc>
                  <a:txBody>
                    <a:bodyPr/>
                    <a:lstStyle/>
                    <a:p>
                      <a:pPr marL="0" marR="0" algn="just">
                        <a:lnSpc>
                          <a:spcPct val="115000"/>
                        </a:lnSpc>
                        <a:spcBef>
                          <a:spcPts val="0"/>
                        </a:spcBef>
                        <a:spcAft>
                          <a:spcPts val="1000"/>
                        </a:spcAft>
                        <a:tabLst>
                          <a:tab pos="5191125" algn="l"/>
                        </a:tabLst>
                      </a:pPr>
                      <a:r>
                        <a:rPr lang="en-US" sz="1600" dirty="0">
                          <a:solidFill>
                            <a:srgbClr val="210F17"/>
                          </a:solidFill>
                          <a:latin typeface="Times New Roman"/>
                          <a:ea typeface="Trebuchet MS"/>
                          <a:cs typeface="Times New Roman"/>
                        </a:rPr>
                        <a:t>Project title:-</a:t>
                      </a:r>
                      <a:endParaRPr lang="en-US" sz="1600" dirty="0">
                        <a:solidFill>
                          <a:srgbClr val="210F17"/>
                        </a:solidFill>
                        <a:latin typeface="Georgia"/>
                        <a:ea typeface="Trebuchet MS"/>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1000"/>
                        </a:spcAft>
                        <a:tabLst>
                          <a:tab pos="5191125" algn="l"/>
                        </a:tabLst>
                      </a:pPr>
                      <a:r>
                        <a:rPr lang="en-US" sz="1600" dirty="0">
                          <a:solidFill>
                            <a:srgbClr val="210F17"/>
                          </a:solidFill>
                          <a:latin typeface="Times New Roman"/>
                          <a:ea typeface="Trebuchet MS"/>
                          <a:cs typeface="Times New Roman"/>
                        </a:rPr>
                        <a:t>Tanishq jewellery shop</a:t>
                      </a:r>
                      <a:endParaRPr lang="en-US" sz="1600" dirty="0">
                        <a:solidFill>
                          <a:srgbClr val="210F17"/>
                        </a:solidFill>
                        <a:latin typeface="Georgia"/>
                        <a:ea typeface="Trebuchet MS"/>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762231">
                <a:tc>
                  <a:txBody>
                    <a:bodyPr/>
                    <a:lstStyle/>
                    <a:p>
                      <a:pPr marL="0" marR="0" algn="just">
                        <a:lnSpc>
                          <a:spcPct val="115000"/>
                        </a:lnSpc>
                        <a:spcBef>
                          <a:spcPts val="0"/>
                        </a:spcBef>
                        <a:spcAft>
                          <a:spcPts val="1000"/>
                        </a:spcAft>
                        <a:tabLst>
                          <a:tab pos="5191125" algn="l"/>
                        </a:tabLst>
                      </a:pPr>
                      <a:r>
                        <a:rPr lang="en-US" sz="1600" dirty="0">
                          <a:solidFill>
                            <a:srgbClr val="210F17"/>
                          </a:solidFill>
                          <a:latin typeface="Times New Roman"/>
                          <a:ea typeface="Trebuchet MS"/>
                          <a:cs typeface="Times New Roman"/>
                        </a:rPr>
                        <a:t>Objective:-</a:t>
                      </a:r>
                      <a:endParaRPr lang="en-US" sz="1600" dirty="0">
                        <a:solidFill>
                          <a:srgbClr val="210F17"/>
                        </a:solidFill>
                        <a:latin typeface="Georgia"/>
                        <a:ea typeface="Trebuchet MS"/>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1000"/>
                        </a:spcAft>
                        <a:tabLst>
                          <a:tab pos="5191125" algn="l"/>
                        </a:tabLst>
                      </a:pPr>
                      <a:r>
                        <a:rPr lang="en-US" sz="1600" dirty="0">
                          <a:solidFill>
                            <a:srgbClr val="210F17"/>
                          </a:solidFill>
                          <a:latin typeface="Times New Roman"/>
                          <a:ea typeface="Trebuchet MS"/>
                          <a:cs typeface="Times New Roman"/>
                        </a:rPr>
                        <a:t>To provide online informationfrom anywhere &amp; anytime</a:t>
                      </a:r>
                      <a:endParaRPr lang="en-US" sz="1600" dirty="0">
                        <a:solidFill>
                          <a:srgbClr val="210F17"/>
                        </a:solidFill>
                        <a:latin typeface="Georgia"/>
                        <a:ea typeface="Trebuchet MS"/>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5325">
                <a:tc>
                  <a:txBody>
                    <a:bodyPr/>
                    <a:lstStyle/>
                    <a:p>
                      <a:pPr marL="0" marR="0" algn="just">
                        <a:lnSpc>
                          <a:spcPct val="115000"/>
                        </a:lnSpc>
                        <a:spcBef>
                          <a:spcPts val="0"/>
                        </a:spcBef>
                        <a:spcAft>
                          <a:spcPts val="1000"/>
                        </a:spcAft>
                        <a:tabLst>
                          <a:tab pos="5191125" algn="l"/>
                        </a:tabLst>
                      </a:pPr>
                      <a:r>
                        <a:rPr lang="en-US" sz="1600" dirty="0" smtClean="0">
                          <a:solidFill>
                            <a:srgbClr val="210F17"/>
                          </a:solidFill>
                          <a:latin typeface="Times New Roman"/>
                          <a:ea typeface="Trebuchet MS"/>
                          <a:cs typeface="Times New Roman"/>
                        </a:rPr>
                        <a:t>Front-end </a:t>
                      </a:r>
                      <a:r>
                        <a:rPr lang="en-US" sz="1600" dirty="0">
                          <a:solidFill>
                            <a:srgbClr val="210F17"/>
                          </a:solidFill>
                          <a:latin typeface="Times New Roman"/>
                          <a:ea typeface="Trebuchet MS"/>
                          <a:cs typeface="Times New Roman"/>
                        </a:rPr>
                        <a:t>tool:-</a:t>
                      </a:r>
                      <a:endParaRPr lang="en-US" sz="1600" dirty="0">
                        <a:solidFill>
                          <a:srgbClr val="210F17"/>
                        </a:solidFill>
                        <a:latin typeface="Georgia"/>
                        <a:ea typeface="Trebuchet MS"/>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1000"/>
                        </a:spcAft>
                        <a:tabLst>
                          <a:tab pos="5191125" algn="l"/>
                        </a:tabLst>
                      </a:pPr>
                      <a:r>
                        <a:rPr lang="en-IN" sz="1600" dirty="0" smtClean="0">
                          <a:solidFill>
                            <a:srgbClr val="210F17"/>
                          </a:solidFill>
                          <a:latin typeface="Times New Roman"/>
                          <a:ea typeface="Trebuchet MS"/>
                          <a:cs typeface="Times New Roman"/>
                        </a:rPr>
                        <a:t>Php</a:t>
                      </a:r>
                      <a:endParaRPr lang="en-US" sz="1600" dirty="0">
                        <a:solidFill>
                          <a:srgbClr val="210F17"/>
                        </a:solidFill>
                        <a:latin typeface="Georgia"/>
                        <a:ea typeface="Trebuchet MS"/>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34105">
                <a:tc>
                  <a:txBody>
                    <a:bodyPr/>
                    <a:lstStyle/>
                    <a:p>
                      <a:pPr marL="0" marR="0" algn="just">
                        <a:lnSpc>
                          <a:spcPct val="115000"/>
                        </a:lnSpc>
                        <a:spcBef>
                          <a:spcPts val="0"/>
                        </a:spcBef>
                        <a:spcAft>
                          <a:spcPts val="1000"/>
                        </a:spcAft>
                        <a:tabLst>
                          <a:tab pos="5191125" algn="l"/>
                        </a:tabLst>
                      </a:pPr>
                      <a:r>
                        <a:rPr lang="en-US" sz="1600" dirty="0">
                          <a:solidFill>
                            <a:srgbClr val="210F17"/>
                          </a:solidFill>
                          <a:latin typeface="Times New Roman"/>
                          <a:ea typeface="Trebuchet MS"/>
                          <a:cs typeface="Times New Roman"/>
                        </a:rPr>
                        <a:t>Back-end tool:-</a:t>
                      </a:r>
                      <a:endParaRPr lang="en-US" sz="1600" dirty="0">
                        <a:solidFill>
                          <a:srgbClr val="210F17"/>
                        </a:solidFill>
                        <a:latin typeface="Georgia"/>
                        <a:ea typeface="Trebuchet MS"/>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1000"/>
                        </a:spcAft>
                        <a:tabLst>
                          <a:tab pos="5191125" algn="l"/>
                        </a:tabLst>
                      </a:pPr>
                      <a:r>
                        <a:rPr lang="en-IN" sz="1600" dirty="0">
                          <a:solidFill>
                            <a:srgbClr val="210F17"/>
                          </a:solidFill>
                          <a:latin typeface="Georgia"/>
                          <a:ea typeface="Trebuchet MS"/>
                          <a:cs typeface="Times New Roman"/>
                        </a:rPr>
                        <a:t>My sql server</a:t>
                      </a:r>
                      <a:endParaRPr lang="en-US" sz="1600" dirty="0">
                        <a:solidFill>
                          <a:srgbClr val="210F17"/>
                        </a:solidFill>
                        <a:latin typeface="Georgia"/>
                        <a:ea typeface="Trebuchet MS"/>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5325">
                <a:tc>
                  <a:txBody>
                    <a:bodyPr/>
                    <a:lstStyle/>
                    <a:p>
                      <a:pPr marL="0" marR="0" algn="l">
                        <a:lnSpc>
                          <a:spcPct val="115000"/>
                        </a:lnSpc>
                        <a:spcBef>
                          <a:spcPts val="0"/>
                        </a:spcBef>
                        <a:spcAft>
                          <a:spcPts val="1000"/>
                        </a:spcAft>
                        <a:tabLst>
                          <a:tab pos="5191125" algn="l"/>
                        </a:tabLst>
                      </a:pPr>
                      <a:r>
                        <a:rPr lang="en-US" sz="1600" dirty="0">
                          <a:solidFill>
                            <a:srgbClr val="210F17"/>
                          </a:solidFill>
                          <a:latin typeface="Times New Roman"/>
                          <a:ea typeface="Trebuchet MS"/>
                          <a:cs typeface="Times New Roman"/>
                        </a:rPr>
                        <a:t>Platform:-</a:t>
                      </a:r>
                      <a:endParaRPr lang="en-US" sz="1600" dirty="0">
                        <a:solidFill>
                          <a:srgbClr val="210F17"/>
                        </a:solidFill>
                        <a:latin typeface="Georgia"/>
                        <a:ea typeface="Trebuchet MS"/>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1000"/>
                        </a:spcAft>
                        <a:tabLst>
                          <a:tab pos="5191125" algn="l"/>
                        </a:tabLst>
                      </a:pPr>
                      <a:r>
                        <a:rPr lang="en-IN" sz="1600" dirty="0">
                          <a:solidFill>
                            <a:srgbClr val="210F17"/>
                          </a:solidFill>
                          <a:latin typeface="Georgia"/>
                          <a:ea typeface="Trebuchet MS"/>
                          <a:cs typeface="Times New Roman"/>
                        </a:rPr>
                        <a:t>Web site</a:t>
                      </a:r>
                      <a:endParaRPr lang="en-US" sz="1600" dirty="0">
                        <a:solidFill>
                          <a:srgbClr val="210F17"/>
                        </a:solidFill>
                        <a:latin typeface="Georgia"/>
                        <a:ea typeface="Trebuchet MS"/>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45325">
                <a:tc>
                  <a:txBody>
                    <a:bodyPr/>
                    <a:lstStyle/>
                    <a:p>
                      <a:pPr marL="0" marR="0" algn="just">
                        <a:lnSpc>
                          <a:spcPct val="115000"/>
                        </a:lnSpc>
                        <a:spcBef>
                          <a:spcPts val="0"/>
                        </a:spcBef>
                        <a:spcAft>
                          <a:spcPts val="1000"/>
                        </a:spcAft>
                        <a:tabLst>
                          <a:tab pos="5191125" algn="l"/>
                        </a:tabLst>
                      </a:pPr>
                      <a:r>
                        <a:rPr lang="en-US" sz="1600" dirty="0">
                          <a:solidFill>
                            <a:srgbClr val="210F17"/>
                          </a:solidFill>
                          <a:latin typeface="Times New Roman"/>
                          <a:ea typeface="Trebuchet MS"/>
                          <a:cs typeface="Times New Roman"/>
                        </a:rPr>
                        <a:t>OS platform:-</a:t>
                      </a:r>
                      <a:endParaRPr lang="en-US" sz="1600" dirty="0">
                        <a:solidFill>
                          <a:srgbClr val="210F17"/>
                        </a:solidFill>
                        <a:latin typeface="Georgia"/>
                        <a:ea typeface="Trebuchet MS"/>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1000"/>
                        </a:spcAft>
                        <a:tabLst>
                          <a:tab pos="5191125" algn="l"/>
                        </a:tabLst>
                      </a:pPr>
                      <a:r>
                        <a:rPr lang="en-IN" sz="1600" dirty="0">
                          <a:solidFill>
                            <a:srgbClr val="210F17"/>
                          </a:solidFill>
                          <a:latin typeface="Georgia"/>
                          <a:ea typeface="Trebuchet MS"/>
                          <a:cs typeface="Times New Roman"/>
                        </a:rPr>
                        <a:t>Windows 11</a:t>
                      </a:r>
                      <a:endParaRPr lang="en-US" sz="1600" dirty="0">
                        <a:solidFill>
                          <a:srgbClr val="210F17"/>
                        </a:solidFill>
                        <a:latin typeface="Georgia"/>
                        <a:ea typeface="Trebuchet MS"/>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34105">
                <a:tc>
                  <a:txBody>
                    <a:bodyPr/>
                    <a:lstStyle/>
                    <a:p>
                      <a:pPr marL="0" marR="0" algn="just">
                        <a:lnSpc>
                          <a:spcPct val="115000"/>
                        </a:lnSpc>
                        <a:spcBef>
                          <a:spcPts val="0"/>
                        </a:spcBef>
                        <a:spcAft>
                          <a:spcPts val="1000"/>
                        </a:spcAft>
                        <a:tabLst>
                          <a:tab pos="5191125" algn="l"/>
                        </a:tabLst>
                      </a:pPr>
                      <a:r>
                        <a:rPr lang="en-US" sz="1600" dirty="0">
                          <a:solidFill>
                            <a:srgbClr val="210F17"/>
                          </a:solidFill>
                          <a:latin typeface="Times New Roman"/>
                          <a:ea typeface="Trebuchet MS"/>
                          <a:cs typeface="Times New Roman"/>
                        </a:rPr>
                        <a:t>Supportive tools:-</a:t>
                      </a:r>
                      <a:endParaRPr lang="en-US" sz="1600" dirty="0">
                        <a:solidFill>
                          <a:srgbClr val="210F17"/>
                        </a:solidFill>
                        <a:latin typeface="Georgia"/>
                        <a:ea typeface="Trebuchet MS"/>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1000"/>
                        </a:spcAft>
                        <a:tabLst>
                          <a:tab pos="5191125" algn="l"/>
                        </a:tabLst>
                      </a:pPr>
                      <a:r>
                        <a:rPr lang="en-IN" sz="1600" dirty="0">
                          <a:solidFill>
                            <a:srgbClr val="210F17"/>
                          </a:solidFill>
                          <a:latin typeface="Georgia"/>
                          <a:ea typeface="Trebuchet MS"/>
                          <a:cs typeface="Times New Roman"/>
                        </a:rPr>
                        <a:t>MS Office 2007</a:t>
                      </a:r>
                      <a:endParaRPr lang="en-US" sz="1600" dirty="0">
                        <a:solidFill>
                          <a:srgbClr val="210F17"/>
                        </a:solidFill>
                        <a:latin typeface="Georgia"/>
                        <a:ea typeface="Trebuchet MS"/>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34836">
                <a:tc>
                  <a:txBody>
                    <a:bodyPr/>
                    <a:lstStyle/>
                    <a:p>
                      <a:pPr marL="0" marR="0" algn="just">
                        <a:lnSpc>
                          <a:spcPct val="115000"/>
                        </a:lnSpc>
                        <a:spcBef>
                          <a:spcPts val="0"/>
                        </a:spcBef>
                        <a:spcAft>
                          <a:spcPts val="1000"/>
                        </a:spcAft>
                        <a:tabLst>
                          <a:tab pos="5191125" algn="l"/>
                        </a:tabLst>
                      </a:pPr>
                      <a:r>
                        <a:rPr lang="en-US" sz="1600" dirty="0">
                          <a:solidFill>
                            <a:srgbClr val="210F17"/>
                          </a:solidFill>
                          <a:latin typeface="Times New Roman"/>
                          <a:ea typeface="Trebuchet MS"/>
                          <a:cs typeface="Times New Roman"/>
                        </a:rPr>
                        <a:t>Developed by:-</a:t>
                      </a:r>
                      <a:endParaRPr lang="en-US" sz="1600" dirty="0">
                        <a:solidFill>
                          <a:srgbClr val="210F17"/>
                        </a:solidFill>
                        <a:latin typeface="Georgia"/>
                        <a:ea typeface="Trebuchet MS"/>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just">
                        <a:lnSpc>
                          <a:spcPct val="115000"/>
                        </a:lnSpc>
                        <a:spcBef>
                          <a:spcPts val="0"/>
                        </a:spcBef>
                        <a:spcAft>
                          <a:spcPts val="1000"/>
                        </a:spcAft>
                        <a:buFont typeface="+mj-lt"/>
                        <a:buAutoNum type="arabicParenBoth"/>
                        <a:tabLst>
                          <a:tab pos="457200" algn="l"/>
                          <a:tab pos="5191125" algn="l"/>
                        </a:tabLst>
                      </a:pPr>
                      <a:r>
                        <a:rPr lang="en-US" sz="1600" dirty="0">
                          <a:solidFill>
                            <a:srgbClr val="210F17"/>
                          </a:solidFill>
                          <a:latin typeface="Georgia"/>
                          <a:ea typeface="Trebuchet MS"/>
                          <a:cs typeface="Times New Roman"/>
                        </a:rPr>
                        <a:t>Surkar Jaimini </a:t>
                      </a:r>
                      <a:endParaRPr lang="en-US" sz="1600" dirty="0" smtClean="0">
                        <a:solidFill>
                          <a:srgbClr val="210F17"/>
                        </a:solidFill>
                        <a:latin typeface="Georgia"/>
                        <a:ea typeface="Trebuchet MS"/>
                        <a:cs typeface="Times New Roman"/>
                      </a:endParaRPr>
                    </a:p>
                    <a:p>
                      <a:pPr marL="342900" marR="0" lvl="0" indent="-342900" algn="just">
                        <a:lnSpc>
                          <a:spcPct val="115000"/>
                        </a:lnSpc>
                        <a:spcBef>
                          <a:spcPts val="0"/>
                        </a:spcBef>
                        <a:spcAft>
                          <a:spcPts val="1000"/>
                        </a:spcAft>
                        <a:buFont typeface="+mj-lt"/>
                        <a:buAutoNum type="arabicParenBoth"/>
                        <a:tabLst>
                          <a:tab pos="457200" algn="l"/>
                          <a:tab pos="5191125" algn="l"/>
                        </a:tabLst>
                      </a:pPr>
                      <a:r>
                        <a:rPr lang="en-US" sz="1600" dirty="0" smtClean="0">
                          <a:solidFill>
                            <a:srgbClr val="210F17"/>
                          </a:solidFill>
                          <a:latin typeface="Georgia"/>
                          <a:ea typeface="Trebuchet MS"/>
                          <a:cs typeface="Times New Roman"/>
                        </a:rPr>
                        <a:t>Chaudhari </a:t>
                      </a:r>
                      <a:r>
                        <a:rPr lang="en-US" sz="1600" dirty="0">
                          <a:solidFill>
                            <a:srgbClr val="210F17"/>
                          </a:solidFill>
                          <a:latin typeface="Georgia"/>
                          <a:ea typeface="Trebuchet MS"/>
                          <a:cs typeface="Times New Roman"/>
                        </a:rPr>
                        <a:t>Jyotsna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41448">
                <a:tc>
                  <a:txBody>
                    <a:bodyPr/>
                    <a:lstStyle/>
                    <a:p>
                      <a:pPr marL="0" marR="0" algn="just">
                        <a:lnSpc>
                          <a:spcPct val="115000"/>
                        </a:lnSpc>
                        <a:spcBef>
                          <a:spcPts val="0"/>
                        </a:spcBef>
                        <a:spcAft>
                          <a:spcPts val="1000"/>
                        </a:spcAft>
                        <a:tabLst>
                          <a:tab pos="5191125" algn="l"/>
                        </a:tabLst>
                      </a:pPr>
                      <a:r>
                        <a:rPr lang="en-US" sz="1600" dirty="0">
                          <a:solidFill>
                            <a:srgbClr val="210F17"/>
                          </a:solidFill>
                          <a:latin typeface="Times New Roman"/>
                          <a:ea typeface="Trebuchet MS"/>
                          <a:cs typeface="Times New Roman"/>
                        </a:rPr>
                        <a:t>External guide:-</a:t>
                      </a:r>
                      <a:endParaRPr lang="en-US" sz="1600" dirty="0">
                        <a:solidFill>
                          <a:srgbClr val="210F17"/>
                        </a:solidFill>
                        <a:latin typeface="Georgia"/>
                        <a:ea typeface="Trebuchet MS"/>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15000"/>
                        </a:lnSpc>
                        <a:spcBef>
                          <a:spcPts val="0"/>
                        </a:spcBef>
                        <a:spcAft>
                          <a:spcPts val="1000"/>
                        </a:spcAft>
                        <a:tabLst>
                          <a:tab pos="5191125" algn="l"/>
                        </a:tabLst>
                      </a:pPr>
                      <a:r>
                        <a:rPr lang="en-US" sz="1600" dirty="0">
                          <a:solidFill>
                            <a:srgbClr val="210F17"/>
                          </a:solidFill>
                          <a:latin typeface="Times New Roman"/>
                          <a:ea typeface="Trebuchet MS"/>
                          <a:cs typeface="Times New Roman"/>
                        </a:rPr>
                        <a:t>Mr.Minesh chaudhari</a:t>
                      </a:r>
                      <a:endParaRPr lang="en-US" sz="1600" dirty="0">
                        <a:solidFill>
                          <a:srgbClr val="210F17"/>
                        </a:solidFill>
                        <a:latin typeface="Georgia"/>
                        <a:ea typeface="Trebuchet MS"/>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914400"/>
            <a:ext cx="8077200" cy="932688"/>
          </a:xfrm>
        </p:spPr>
        <p:txBody>
          <a:bodyPr>
            <a:normAutofit fontScale="90000"/>
          </a:bodyPr>
          <a:lstStyle/>
          <a:p>
            <a:pPr algn="ctr"/>
            <a:r>
              <a:rPr lang="en-IN" dirty="0" smtClean="0"/>
              <a:t>INTRODUTION</a:t>
            </a:r>
            <a:r>
              <a:rPr lang="en-US" dirty="0" smtClean="0"/>
              <a:t/>
            </a:r>
            <a:br>
              <a:rPr lang="en-US" dirty="0" smtClean="0"/>
            </a:br>
            <a:endParaRPr lang="en-US" dirty="0"/>
          </a:p>
        </p:txBody>
      </p:sp>
      <p:sp>
        <p:nvSpPr>
          <p:cNvPr id="4" name="TextBox 3"/>
          <p:cNvSpPr txBox="1"/>
          <p:nvPr/>
        </p:nvSpPr>
        <p:spPr>
          <a:xfrm>
            <a:off x="0" y="1752600"/>
            <a:ext cx="9144000" cy="3416320"/>
          </a:xfrm>
          <a:prstGeom prst="rect">
            <a:avLst/>
          </a:prstGeom>
          <a:noFill/>
        </p:spPr>
        <p:txBody>
          <a:bodyPr wrap="square" rtlCol="0">
            <a:spAutoFit/>
          </a:bodyPr>
          <a:lstStyle/>
          <a:p>
            <a:pPr lvl="0" eaLnBrk="0" fontAlgn="base" hangingPunct="0">
              <a:spcBef>
                <a:spcPct val="0"/>
              </a:spcBef>
              <a:spcAft>
                <a:spcPct val="0"/>
              </a:spcAft>
            </a:pPr>
            <a:r>
              <a:rPr lang="en-US" sz="1400" dirty="0" smtClean="0">
                <a:latin typeface="Arial" pitchFamily="34" charset="0"/>
                <a:ea typeface="Times New Roman" pitchFamily="18" charset="0"/>
                <a:cs typeface="Arial" pitchFamily="34" charset="0"/>
              </a:rPr>
              <a:t>              </a:t>
            </a:r>
            <a:r>
              <a:rPr lang="en-US" dirty="0" smtClean="0">
                <a:latin typeface="Arial" pitchFamily="34" charset="0"/>
                <a:ea typeface="Times New Roman" pitchFamily="18" charset="0"/>
                <a:cs typeface="Arial" pitchFamily="34" charset="0"/>
              </a:rPr>
              <a:t>We have developed the website </a:t>
            </a:r>
            <a:r>
              <a:rPr lang="en-US" b="1" dirty="0" smtClean="0">
                <a:latin typeface="Arial" pitchFamily="34" charset="0"/>
                <a:ea typeface="Times New Roman" pitchFamily="18" charset="0"/>
                <a:cs typeface="Arial" pitchFamily="34" charset="0"/>
              </a:rPr>
              <a:t>“Tanishq jewellery”</a:t>
            </a:r>
            <a:r>
              <a:rPr lang="en-US" dirty="0" smtClean="0">
                <a:latin typeface="Arial" pitchFamily="34" charset="0"/>
                <a:ea typeface="Times New Roman" pitchFamily="18" charset="0"/>
                <a:cs typeface="Arial" pitchFamily="34" charset="0"/>
              </a:rPr>
              <a:t> for</a:t>
            </a:r>
            <a:r>
              <a:rPr lang="en-US" b="1" dirty="0" smtClean="0">
                <a:latin typeface="Arial" pitchFamily="34" charset="0"/>
                <a:ea typeface="Times New Roman" pitchFamily="18" charset="0"/>
                <a:cs typeface="Arial" pitchFamily="34" charset="0"/>
              </a:rPr>
              <a:t> “Home Project”</a:t>
            </a:r>
            <a:r>
              <a:rPr lang="en-US" dirty="0" smtClean="0">
                <a:latin typeface="Arial" pitchFamily="34" charset="0"/>
                <a:ea typeface="Times New Roman" pitchFamily="18" charset="0"/>
                <a:cs typeface="Arial" pitchFamily="34" charset="0"/>
              </a:rPr>
              <a:t>.</a:t>
            </a:r>
          </a:p>
          <a:p>
            <a:pPr lvl="0" eaLnBrk="0" fontAlgn="base" hangingPunct="0">
              <a:spcBef>
                <a:spcPct val="0"/>
              </a:spcBef>
              <a:spcAft>
                <a:spcPct val="0"/>
              </a:spcAft>
            </a:pPr>
            <a:endParaRPr lang="en-US" dirty="0" smtClean="0">
              <a:latin typeface="Arial" pitchFamily="34" charset="0"/>
              <a:cs typeface="Arial" pitchFamily="34" charset="0"/>
            </a:endParaRPr>
          </a:p>
          <a:p>
            <a:pPr lvl="0" eaLnBrk="0" fontAlgn="base" hangingPunct="0">
              <a:spcBef>
                <a:spcPct val="0"/>
              </a:spcBef>
              <a:spcAft>
                <a:spcPct val="0"/>
              </a:spcAft>
              <a:buFont typeface="Wingdings" pitchFamily="2" charset="2"/>
              <a:buChar char="Ø"/>
            </a:pPr>
            <a:r>
              <a:rPr lang="en-US" b="1" dirty="0" smtClean="0">
                <a:latin typeface="Arial" pitchFamily="34" charset="0"/>
                <a:ea typeface="Times New Roman" pitchFamily="18" charset="0"/>
                <a:cs typeface="Arial" pitchFamily="34" charset="0"/>
              </a:rPr>
              <a:t> Tanishq jewellery</a:t>
            </a:r>
            <a:r>
              <a:rPr lang="en-US" dirty="0" smtClean="0">
                <a:latin typeface="Arial" pitchFamily="34" charset="0"/>
                <a:ea typeface="Times New Roman" pitchFamily="18" charset="0"/>
                <a:cs typeface="Arial" pitchFamily="34" charset="0"/>
              </a:rPr>
              <a:t> is an online jewellery store that houses high quality jewellery with strikingly exquisite designs. With its affordable rates and unique shopping experience, Bluestone is your one stop destination for making any given day an occasion.</a:t>
            </a:r>
          </a:p>
          <a:p>
            <a:pPr lvl="0" eaLnBrk="0" fontAlgn="base" hangingPunct="0">
              <a:spcBef>
                <a:spcPct val="0"/>
              </a:spcBef>
              <a:spcAft>
                <a:spcPct val="0"/>
              </a:spcAft>
            </a:pPr>
            <a:endParaRPr lang="en-US" dirty="0" smtClean="0">
              <a:latin typeface="Arial" pitchFamily="34" charset="0"/>
              <a:cs typeface="Arial" pitchFamily="34" charset="0"/>
            </a:endParaRPr>
          </a:p>
          <a:p>
            <a:pPr lvl="0" eaLnBrk="0" fontAlgn="base" hangingPunct="0">
              <a:spcBef>
                <a:spcPct val="0"/>
              </a:spcBef>
              <a:spcAft>
                <a:spcPct val="0"/>
              </a:spcAft>
              <a:buFont typeface="Wingdings" pitchFamily="2" charset="2"/>
              <a:buChar char="Ø"/>
            </a:pPr>
            <a:r>
              <a:rPr lang="en-US" dirty="0" smtClean="0">
                <a:latin typeface="Arial" pitchFamily="34" charset="0"/>
                <a:ea typeface="Times New Roman" pitchFamily="18" charset="0"/>
                <a:cs typeface="Arial" pitchFamily="34" charset="0"/>
              </a:rPr>
              <a:t> That's precisely what you can expect at Tanishq.com. An online jewellery store that's positioned to cater to stylish men and women, Tanishq houses exquisite pieces of jewellery, designed to appeal to people with unique tastes. </a:t>
            </a:r>
          </a:p>
          <a:p>
            <a:pPr lvl="0" eaLnBrk="0" fontAlgn="base" hangingPunct="0">
              <a:spcBef>
                <a:spcPct val="0"/>
              </a:spcBef>
              <a:spcAft>
                <a:spcPct val="0"/>
              </a:spcAft>
            </a:pPr>
            <a:endParaRPr lang="en-US" dirty="0" smtClean="0">
              <a:latin typeface="Arial" pitchFamily="34" charset="0"/>
              <a:cs typeface="Arial" pitchFamily="34" charset="0"/>
            </a:endParaRPr>
          </a:p>
          <a:p>
            <a:pPr lvl="0" eaLnBrk="0" fontAlgn="base" hangingPunct="0">
              <a:spcBef>
                <a:spcPct val="0"/>
              </a:spcBef>
              <a:spcAft>
                <a:spcPct val="0"/>
              </a:spcAft>
              <a:buFont typeface="Wingdings" pitchFamily="2" charset="2"/>
              <a:buChar char="Ø"/>
            </a:pPr>
            <a:r>
              <a:rPr lang="en-US" b="1" dirty="0" smtClean="0">
                <a:latin typeface="Arial" pitchFamily="34" charset="0"/>
                <a:ea typeface="Times New Roman" pitchFamily="18" charset="0"/>
                <a:cs typeface="Arial" pitchFamily="34" charset="0"/>
              </a:rPr>
              <a:t> Tanishq jewellery</a:t>
            </a:r>
            <a:r>
              <a:rPr lang="en-US" dirty="0" smtClean="0">
                <a:latin typeface="Arial" pitchFamily="34" charset="0"/>
                <a:ea typeface="Times New Roman" pitchFamily="18" charset="0"/>
                <a:cs typeface="Arial" pitchFamily="34" charset="0"/>
              </a:rPr>
              <a:t> aims at revolutionizing the Jewellery and Lifestyle Ecommerce scene in India with its firm focus on affordability, quality and user experience.</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3600" dirty="0" smtClean="0"/>
              <a:t>HARDWARE &amp; SOFTWARE REQUIREMENT</a:t>
            </a:r>
            <a:br>
              <a:rPr lang="en-IN" sz="3600" dirty="0" smtClean="0"/>
            </a:br>
            <a:r>
              <a:rPr lang="en-US" sz="2400" dirty="0" smtClean="0"/>
              <a:t/>
            </a:r>
            <a:br>
              <a:rPr lang="en-US" sz="2400" dirty="0" smtClean="0"/>
            </a:br>
            <a:endParaRPr lang="en-US" sz="2400" dirty="0"/>
          </a:p>
        </p:txBody>
      </p:sp>
      <p:sp>
        <p:nvSpPr>
          <p:cNvPr id="3" name="TextBox 2"/>
          <p:cNvSpPr txBox="1"/>
          <p:nvPr/>
        </p:nvSpPr>
        <p:spPr>
          <a:xfrm>
            <a:off x="0" y="1143000"/>
            <a:ext cx="9144000" cy="923330"/>
          </a:xfrm>
          <a:prstGeom prst="rect">
            <a:avLst/>
          </a:prstGeom>
          <a:noFill/>
        </p:spPr>
        <p:txBody>
          <a:bodyPr wrap="square" rtlCol="0">
            <a:spAutoFit/>
          </a:bodyPr>
          <a:lstStyle/>
          <a:p>
            <a:pPr algn="ctr"/>
            <a:endParaRPr lang="en-IN" dirty="0" smtClean="0"/>
          </a:p>
          <a:p>
            <a:pPr algn="ctr"/>
            <a:r>
              <a:rPr lang="en-IN" dirty="0" smtClean="0"/>
              <a:t>HARDWARE REQUIREMENT</a:t>
            </a:r>
          </a:p>
          <a:p>
            <a:pPr algn="ctr"/>
            <a:endParaRPr lang="en-US" dirty="0"/>
          </a:p>
        </p:txBody>
      </p:sp>
      <p:sp>
        <p:nvSpPr>
          <p:cNvPr id="6" name="TextBox 5"/>
          <p:cNvSpPr txBox="1"/>
          <p:nvPr/>
        </p:nvSpPr>
        <p:spPr>
          <a:xfrm>
            <a:off x="533400" y="1752600"/>
            <a:ext cx="8610600" cy="2308324"/>
          </a:xfrm>
          <a:prstGeom prst="rect">
            <a:avLst/>
          </a:prstGeom>
          <a:noFill/>
        </p:spPr>
        <p:txBody>
          <a:bodyPr wrap="square" rtlCol="0">
            <a:spAutoFit/>
          </a:bodyPr>
          <a:lstStyle/>
          <a:p>
            <a:pPr lvl="0" fontAlgn="base">
              <a:spcBef>
                <a:spcPct val="0"/>
              </a:spcBef>
              <a:spcAft>
                <a:spcPct val="0"/>
              </a:spcAft>
            </a:pPr>
            <a:endParaRPr lang="en-US" dirty="0" smtClean="0">
              <a:solidFill>
                <a:srgbClr val="000000"/>
              </a:solidFill>
              <a:latin typeface="Arial" pitchFamily="34" charset="0"/>
              <a:ea typeface="Times New Roman" pitchFamily="18" charset="0"/>
              <a:cs typeface="Arial" pitchFamily="34" charset="0"/>
            </a:endParaRPr>
          </a:p>
          <a:p>
            <a:pPr lvl="0" fontAlgn="base">
              <a:spcBef>
                <a:spcPct val="0"/>
              </a:spcBef>
              <a:spcAft>
                <a:spcPct val="0"/>
              </a:spcAft>
            </a:pPr>
            <a:endParaRPr lang="en-US" dirty="0" smtClean="0">
              <a:solidFill>
                <a:srgbClr val="000000"/>
              </a:solidFill>
              <a:latin typeface="Arial" pitchFamily="34" charset="0"/>
              <a:ea typeface="Times New Roman" pitchFamily="18" charset="0"/>
              <a:cs typeface="Arial" pitchFamily="34" charset="0"/>
            </a:endParaRPr>
          </a:p>
          <a:p>
            <a:pPr lvl="0" fontAlgn="base">
              <a:spcBef>
                <a:spcPct val="0"/>
              </a:spcBef>
              <a:spcAft>
                <a:spcPct val="0"/>
              </a:spcAft>
            </a:pPr>
            <a:r>
              <a:rPr lang="en-US" dirty="0" smtClean="0">
                <a:solidFill>
                  <a:srgbClr val="000000"/>
                </a:solidFill>
                <a:latin typeface="Arial" pitchFamily="34" charset="0"/>
                <a:ea typeface="Times New Roman" pitchFamily="18" charset="0"/>
                <a:cs typeface="Arial" pitchFamily="34" charset="0"/>
              </a:rPr>
              <a:t> Server Side :      Hard Disk Drive 1 TB</a:t>
            </a:r>
            <a:endParaRPr lang="en-US" sz="800" dirty="0" smtClean="0">
              <a:latin typeface="Arial" pitchFamily="34" charset="0"/>
              <a:cs typeface="Arial" pitchFamily="34" charset="0"/>
            </a:endParaRPr>
          </a:p>
          <a:p>
            <a:pPr lvl="0" eaLnBrk="0" fontAlgn="base" hangingPunct="0">
              <a:spcBef>
                <a:spcPct val="0"/>
              </a:spcBef>
              <a:spcAft>
                <a:spcPct val="0"/>
              </a:spcAft>
            </a:pPr>
            <a:r>
              <a:rPr lang="en-US" dirty="0" smtClean="0">
                <a:solidFill>
                  <a:srgbClr val="000000"/>
                </a:solidFill>
                <a:latin typeface="Arial" pitchFamily="34" charset="0"/>
                <a:ea typeface="Times New Roman" pitchFamily="18" charset="0"/>
                <a:cs typeface="Arial" pitchFamily="34" charset="0"/>
              </a:rPr>
              <a:t>                                 RAM 8 GB Higher</a:t>
            </a:r>
            <a:endParaRPr lang="en-US" sz="800" dirty="0" smtClean="0">
              <a:latin typeface="Arial" pitchFamily="34" charset="0"/>
              <a:cs typeface="Arial" pitchFamily="34" charset="0"/>
            </a:endParaRPr>
          </a:p>
          <a:p>
            <a:pPr lvl="0" eaLnBrk="0" fontAlgn="base" hangingPunct="0">
              <a:spcBef>
                <a:spcPct val="0"/>
              </a:spcBef>
              <a:spcAft>
                <a:spcPct val="0"/>
              </a:spcAft>
            </a:pPr>
            <a:r>
              <a:rPr lang="en-US" dirty="0" smtClean="0">
                <a:solidFill>
                  <a:srgbClr val="000000"/>
                </a:solidFill>
                <a:latin typeface="Arial" pitchFamily="34" charset="0"/>
                <a:ea typeface="Times New Roman" pitchFamily="18" charset="0"/>
                <a:cs typeface="Arial" pitchFamily="34" charset="0"/>
              </a:rPr>
              <a:t>                                 Processor Intel(R) Core(TM) i5-8350U CPU @ 1.70GHz 1.90  </a:t>
            </a:r>
            <a:endParaRPr lang="en-US" sz="800" dirty="0" smtClean="0">
              <a:latin typeface="Arial" pitchFamily="34" charset="0"/>
              <a:cs typeface="Arial" pitchFamily="34" charset="0"/>
            </a:endParaRPr>
          </a:p>
          <a:p>
            <a:pPr lvl="0" eaLnBrk="0" fontAlgn="base" hangingPunct="0">
              <a:spcBef>
                <a:spcPct val="0"/>
              </a:spcBef>
              <a:spcAft>
                <a:spcPct val="0"/>
              </a:spcAft>
            </a:pPr>
            <a:r>
              <a:rPr lang="en-US" dirty="0" smtClean="0">
                <a:solidFill>
                  <a:srgbClr val="000000"/>
                </a:solidFill>
                <a:latin typeface="Arial" pitchFamily="34" charset="0"/>
                <a:ea typeface="Times New Roman" pitchFamily="18" charset="0"/>
                <a:cs typeface="Arial" pitchFamily="34" charset="0"/>
              </a:rPr>
              <a:t>                                 GHz  </a:t>
            </a:r>
            <a:endParaRPr lang="en-US" sz="800" dirty="0" smtClean="0">
              <a:latin typeface="Arial" pitchFamily="34" charset="0"/>
              <a:cs typeface="Arial" pitchFamily="34" charset="0"/>
            </a:endParaRPr>
          </a:p>
          <a:p>
            <a:pPr lvl="0" eaLnBrk="0" fontAlgn="base" hangingPunct="0">
              <a:spcBef>
                <a:spcPct val="0"/>
              </a:spcBef>
              <a:spcAft>
                <a:spcPct val="0"/>
              </a:spcAft>
            </a:pPr>
            <a:r>
              <a:rPr lang="en-US" dirty="0" smtClean="0">
                <a:solidFill>
                  <a:srgbClr val="000000"/>
                </a:solidFill>
                <a:latin typeface="Arial" pitchFamily="34" charset="0"/>
                <a:ea typeface="Times New Roman" pitchFamily="18" charset="0"/>
                <a:cs typeface="Arial" pitchFamily="34" charset="0"/>
              </a:rPr>
              <a:t> Client Side:         Hard Disk Drive 32 GB OR Higher</a:t>
            </a:r>
            <a:endParaRPr lang="en-US" sz="800" dirty="0" smtClean="0">
              <a:latin typeface="Arial" pitchFamily="34" charset="0"/>
              <a:cs typeface="Arial" pitchFamily="34" charset="0"/>
            </a:endParaRPr>
          </a:p>
          <a:p>
            <a:pPr lvl="0" eaLnBrk="0" fontAlgn="base" hangingPunct="0">
              <a:spcBef>
                <a:spcPct val="0"/>
              </a:spcBef>
              <a:spcAft>
                <a:spcPct val="0"/>
              </a:spcAft>
            </a:pPr>
            <a:r>
              <a:rPr lang="en-US" dirty="0" smtClean="0">
                <a:solidFill>
                  <a:srgbClr val="000000"/>
                </a:solidFill>
                <a:latin typeface="Arial" pitchFamily="34" charset="0"/>
                <a:ea typeface="Times New Roman" pitchFamily="18" charset="0"/>
                <a:cs typeface="Arial" pitchFamily="34" charset="0"/>
              </a:rPr>
              <a:t>                                 RAM 4 GB Higher  </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400" dirty="0" smtClean="0"/>
              <a:t>SOFTWARE REQUIREMENT</a:t>
            </a:r>
            <a:br>
              <a:rPr lang="en-US" sz="2400" dirty="0" smtClean="0"/>
            </a:br>
            <a:endParaRPr lang="en-US" sz="2400" dirty="0"/>
          </a:p>
        </p:txBody>
      </p:sp>
      <p:sp>
        <p:nvSpPr>
          <p:cNvPr id="4" name="TextBox 3"/>
          <p:cNvSpPr txBox="1"/>
          <p:nvPr/>
        </p:nvSpPr>
        <p:spPr>
          <a:xfrm>
            <a:off x="914400" y="1676400"/>
            <a:ext cx="7620000" cy="2031325"/>
          </a:xfrm>
          <a:prstGeom prst="rect">
            <a:avLst/>
          </a:prstGeom>
          <a:noFill/>
        </p:spPr>
        <p:txBody>
          <a:bodyPr wrap="square" rtlCol="0">
            <a:spAutoFit/>
          </a:bodyPr>
          <a:lstStyle/>
          <a:p>
            <a:pPr lvl="0" fontAlgn="base">
              <a:spcBef>
                <a:spcPct val="0"/>
              </a:spcBef>
              <a:spcAft>
                <a:spcPct val="0"/>
              </a:spcAft>
            </a:pPr>
            <a:r>
              <a:rPr lang="en-US" dirty="0" smtClean="0">
                <a:solidFill>
                  <a:srgbClr val="000000"/>
                </a:solidFill>
                <a:latin typeface="Arial" pitchFamily="34" charset="0"/>
                <a:ea typeface="Times New Roman" pitchFamily="18" charset="0"/>
                <a:cs typeface="Arial" pitchFamily="34" charset="0"/>
              </a:rPr>
              <a:t>Server Side :     Software Notpad++, vs code</a:t>
            </a:r>
            <a:endParaRPr lang="en-US" sz="800" dirty="0" smtClean="0">
              <a:latin typeface="Arial" pitchFamily="34" charset="0"/>
              <a:cs typeface="Arial" pitchFamily="34" charset="0"/>
            </a:endParaRPr>
          </a:p>
          <a:p>
            <a:pPr lvl="0" eaLnBrk="0" fontAlgn="base" hangingPunct="0">
              <a:spcBef>
                <a:spcPct val="0"/>
              </a:spcBef>
              <a:spcAft>
                <a:spcPct val="0"/>
              </a:spcAft>
            </a:pPr>
            <a:r>
              <a:rPr lang="en-US" dirty="0" smtClean="0">
                <a:solidFill>
                  <a:srgbClr val="000000"/>
                </a:solidFill>
                <a:latin typeface="Arial" pitchFamily="34" charset="0"/>
                <a:ea typeface="Times New Roman" pitchFamily="18" charset="0"/>
                <a:cs typeface="Arial" pitchFamily="34" charset="0"/>
              </a:rPr>
              <a:t>                                Operating System Windows 11 pro</a:t>
            </a:r>
            <a:endParaRPr lang="en-US" sz="800" dirty="0" smtClean="0">
              <a:latin typeface="Arial" pitchFamily="34" charset="0"/>
              <a:cs typeface="Arial" pitchFamily="34" charset="0"/>
            </a:endParaRPr>
          </a:p>
          <a:p>
            <a:pPr lvl="0" eaLnBrk="0" fontAlgn="base" hangingPunct="0">
              <a:spcBef>
                <a:spcPct val="0"/>
              </a:spcBef>
              <a:spcAft>
                <a:spcPct val="0"/>
              </a:spcAft>
            </a:pPr>
            <a:r>
              <a:rPr lang="en-US" dirty="0" smtClean="0">
                <a:solidFill>
                  <a:srgbClr val="000000"/>
                </a:solidFill>
                <a:latin typeface="Arial" pitchFamily="34" charset="0"/>
                <a:ea typeface="Times New Roman" pitchFamily="18" charset="0"/>
                <a:cs typeface="Arial" pitchFamily="34" charset="0"/>
              </a:rPr>
              <a:t>                                Front end HTML, PHP, Css, Javascript</a:t>
            </a:r>
            <a:endParaRPr lang="en-US" sz="800" dirty="0" smtClean="0">
              <a:latin typeface="Arial" pitchFamily="34" charset="0"/>
              <a:cs typeface="Arial" pitchFamily="34" charset="0"/>
            </a:endParaRPr>
          </a:p>
          <a:p>
            <a:pPr lvl="0" eaLnBrk="0" fontAlgn="base" hangingPunct="0">
              <a:spcBef>
                <a:spcPct val="0"/>
              </a:spcBef>
              <a:spcAft>
                <a:spcPct val="0"/>
              </a:spcAft>
            </a:pPr>
            <a:r>
              <a:rPr lang="en-US" dirty="0" smtClean="0">
                <a:solidFill>
                  <a:srgbClr val="000000"/>
                </a:solidFill>
                <a:latin typeface="Arial" pitchFamily="34" charset="0"/>
                <a:ea typeface="Times New Roman" pitchFamily="18" charset="0"/>
                <a:cs typeface="Arial" pitchFamily="34" charset="0"/>
              </a:rPr>
              <a:t>                                Back end My SQL, PHP</a:t>
            </a:r>
            <a:endParaRPr lang="en-US" sz="800" dirty="0" smtClean="0">
              <a:latin typeface="Arial" pitchFamily="34" charset="0"/>
              <a:cs typeface="Arial" pitchFamily="34" charset="0"/>
            </a:endParaRPr>
          </a:p>
          <a:p>
            <a:pPr lvl="0" eaLnBrk="0" fontAlgn="base" hangingPunct="0">
              <a:spcBef>
                <a:spcPct val="0"/>
              </a:spcBef>
              <a:spcAft>
                <a:spcPct val="0"/>
              </a:spcAft>
            </a:pPr>
            <a:r>
              <a:rPr lang="en-US" dirty="0" smtClean="0">
                <a:solidFill>
                  <a:srgbClr val="000000"/>
                </a:solidFill>
                <a:latin typeface="Arial" pitchFamily="34" charset="0"/>
                <a:ea typeface="Times New Roman" pitchFamily="18" charset="0"/>
                <a:cs typeface="Arial" pitchFamily="34" charset="0"/>
              </a:rPr>
              <a:t>                                </a:t>
            </a:r>
            <a:endParaRPr lang="en-US" sz="800" dirty="0" smtClean="0">
              <a:latin typeface="Arial" pitchFamily="34" charset="0"/>
              <a:cs typeface="Arial" pitchFamily="34" charset="0"/>
            </a:endParaRPr>
          </a:p>
          <a:p>
            <a:pPr lvl="0" eaLnBrk="0" fontAlgn="base" hangingPunct="0">
              <a:spcBef>
                <a:spcPct val="0"/>
              </a:spcBef>
              <a:spcAft>
                <a:spcPct val="0"/>
              </a:spcAft>
            </a:pPr>
            <a:r>
              <a:rPr lang="en-US" dirty="0" smtClean="0">
                <a:solidFill>
                  <a:srgbClr val="000000"/>
                </a:solidFill>
                <a:latin typeface="Arial" pitchFamily="34" charset="0"/>
                <a:ea typeface="Times New Roman" pitchFamily="18" charset="0"/>
                <a:cs typeface="Arial" pitchFamily="34" charset="0"/>
              </a:rPr>
              <a:t>Client Side:       Software Any browser</a:t>
            </a:r>
            <a:endParaRPr lang="en-US" sz="800" dirty="0" smtClean="0">
              <a:latin typeface="Arial" pitchFamily="34" charset="0"/>
              <a:cs typeface="Arial" pitchFamily="34" charset="0"/>
            </a:endParaRPr>
          </a:p>
          <a:p>
            <a:pPr lvl="0" eaLnBrk="0" fontAlgn="base" hangingPunct="0">
              <a:spcBef>
                <a:spcPct val="0"/>
              </a:spcBef>
              <a:spcAft>
                <a:spcPct val="0"/>
              </a:spcAft>
            </a:pPr>
            <a:r>
              <a:rPr lang="en-US" dirty="0" smtClean="0">
                <a:solidFill>
                  <a:srgbClr val="000000"/>
                </a:solidFill>
                <a:latin typeface="Arial" pitchFamily="34" charset="0"/>
                <a:ea typeface="Times New Roman" pitchFamily="18" charset="0"/>
                <a:cs typeface="Arial" pitchFamily="34" charset="0"/>
              </a:rPr>
              <a:t>                               Operating system Window </a:t>
            </a:r>
            <a:r>
              <a:rPr lang="en-US" dirty="0" smtClean="0">
                <a:solidFill>
                  <a:srgbClr val="000000"/>
                </a:solidFill>
                <a:latin typeface="Arial" pitchFamily="34" charset="0"/>
                <a:ea typeface="Times New Roman" pitchFamily="18" charset="0"/>
                <a:cs typeface="Arial" pitchFamily="34" charset="0"/>
              </a:rPr>
              <a:t>7,Android </a:t>
            </a:r>
            <a:r>
              <a:rPr lang="en-US" dirty="0" smtClean="0">
                <a:solidFill>
                  <a:srgbClr val="000000"/>
                </a:solidFill>
                <a:latin typeface="Arial" pitchFamily="34" charset="0"/>
                <a:ea typeface="Times New Roman" pitchFamily="18" charset="0"/>
                <a:cs typeface="Arial" pitchFamily="34" charset="0"/>
              </a:rPr>
              <a:t>and above</a:t>
            </a:r>
            <a:r>
              <a:rPr lang="en-US" b="1" u="sng" dirty="0" smtClean="0">
                <a:solidFill>
                  <a:srgbClr val="000000"/>
                </a:solidFill>
                <a:latin typeface="Arial" pitchFamily="34" charset="0"/>
                <a:ea typeface="Times New Roman" pitchFamily="18" charset="0"/>
                <a:cs typeface="Arial" pitchFamily="34" charset="0"/>
              </a:rPr>
              <a:t>             </a:t>
            </a:r>
            <a:endParaRPr lang="en-US" sz="800" dirty="0" smtClean="0">
              <a:latin typeface="Arial" pitchFamily="34" charset="0"/>
              <a:cs typeface="Arial"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lgn="ctr"/>
            <a:r>
              <a:rPr lang="en-US" sz="2700" u="sng" dirty="0" smtClean="0">
                <a:ln>
                  <a:noFill/>
                </a:ln>
                <a:solidFill>
                  <a:schemeClr val="tx1"/>
                </a:solidFill>
                <a:effectLst/>
                <a:latin typeface="Arial" pitchFamily="34" charset="0"/>
                <a:ea typeface="Times New Roman" pitchFamily="18" charset="0"/>
                <a:cs typeface="Arial" pitchFamily="34" charset="0"/>
              </a:rPr>
              <a:t>Data Flow diagram (DFD )</a:t>
            </a:r>
            <a:r>
              <a:rPr lang="en-US" sz="6000" b="0" dirty="0" smtClean="0">
                <a:ln>
                  <a:noFill/>
                </a:ln>
                <a:solidFill>
                  <a:schemeClr val="tx1"/>
                </a:solidFill>
                <a:effectLst/>
                <a:latin typeface="Arial" pitchFamily="34" charset="0"/>
                <a:cs typeface="Arial" pitchFamily="34" charset="0"/>
              </a:rPr>
              <a:t/>
            </a:r>
            <a:br>
              <a:rPr lang="en-US" sz="6000" b="0" dirty="0" smtClean="0">
                <a:ln>
                  <a:noFill/>
                </a:ln>
                <a:solidFill>
                  <a:schemeClr val="tx1"/>
                </a:solidFill>
                <a:effectLst/>
                <a:latin typeface="Arial" pitchFamily="34" charset="0"/>
                <a:cs typeface="Arial" pitchFamily="34" charset="0"/>
              </a:rPr>
            </a:br>
            <a:endParaRPr lang="en-US" dirty="0"/>
          </a:p>
        </p:txBody>
      </p:sp>
      <p:sp>
        <p:nvSpPr>
          <p:cNvPr id="4" name="TextBox 3"/>
          <p:cNvSpPr txBox="1"/>
          <p:nvPr/>
        </p:nvSpPr>
        <p:spPr>
          <a:xfrm>
            <a:off x="0" y="914400"/>
            <a:ext cx="9144000" cy="646331"/>
          </a:xfrm>
          <a:prstGeom prst="rect">
            <a:avLst/>
          </a:prstGeom>
          <a:noFill/>
        </p:spPr>
        <p:txBody>
          <a:bodyPr wrap="square" rtlCol="0">
            <a:spAutoFit/>
          </a:bodyPr>
          <a:lstStyle/>
          <a:p>
            <a:pPr lvl="0" indent="457200" algn="ctr" fontAlgn="base">
              <a:spcBef>
                <a:spcPct val="0"/>
              </a:spcBef>
              <a:spcAft>
                <a:spcPct val="0"/>
              </a:spcAft>
            </a:pPr>
            <a:endParaRPr lang="en-US" dirty="0" smtClean="0">
              <a:latin typeface="Arial" pitchFamily="34" charset="0"/>
              <a:ea typeface="Times New Roman" pitchFamily="18" charset="0"/>
              <a:cs typeface="Arial" pitchFamily="34" charset="0"/>
            </a:endParaRPr>
          </a:p>
          <a:p>
            <a:pPr lvl="0" indent="457200" algn="ctr" fontAlgn="base">
              <a:spcBef>
                <a:spcPct val="0"/>
              </a:spcBef>
              <a:spcAft>
                <a:spcPct val="0"/>
              </a:spcAft>
            </a:pPr>
            <a:r>
              <a:rPr lang="en-US" dirty="0" smtClean="0">
                <a:latin typeface="Arial" pitchFamily="34" charset="0"/>
                <a:ea typeface="Times New Roman" pitchFamily="18" charset="0"/>
                <a:cs typeface="Arial" pitchFamily="34" charset="0"/>
              </a:rPr>
              <a:t>Context Level Diagram</a:t>
            </a:r>
            <a:endParaRPr lang="en-US" sz="2800" dirty="0" smtClean="0">
              <a:latin typeface="Arial" pitchFamily="34" charset="0"/>
              <a:cs typeface="Arial" pitchFamily="34" charset="0"/>
            </a:endParaRPr>
          </a:p>
        </p:txBody>
      </p:sp>
      <p:pic>
        <p:nvPicPr>
          <p:cNvPr id="6" name="Picture 5" descr="https://documents.lucid.app/documents/42105f11-9997-4dbe-9a08-50114d9e5565/pages/0_0?a=4853&amp;x=-947&amp;y=-377&amp;w=1013&amp;h=374&amp;store=1&amp;accept=image%2F*&amp;auth=LCA%202d8c40e5f1cd23c495e6a7e857f6043046007a7d600b10e227dbfa0f13e0d0f8-ts%3D1707663202"/>
          <p:cNvPicPr/>
          <p:nvPr/>
        </p:nvPicPr>
        <p:blipFill>
          <a:blip r:embed="rId2"/>
          <a:srcRect/>
          <a:stretch>
            <a:fillRect/>
          </a:stretch>
        </p:blipFill>
        <p:spPr bwMode="auto">
          <a:xfrm>
            <a:off x="609600" y="1752600"/>
            <a:ext cx="8077199" cy="396240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400" dirty="0" smtClean="0"/>
              <a:t>FIRST LEVEL FOR USER SIDE:</a:t>
            </a:r>
            <a:br>
              <a:rPr lang="en-US" sz="2400" dirty="0" smtClean="0"/>
            </a:br>
            <a:endParaRPr lang="en-US" sz="2400" dirty="0"/>
          </a:p>
        </p:txBody>
      </p:sp>
      <p:pic>
        <p:nvPicPr>
          <p:cNvPr id="4" name="Picture 3" descr="https://documents.lucid.app/documents/2044da21-0c19-4cbc-a784-7137cbfede5a/pages/3cIHGngH88Rh?a=4763&amp;x=178&amp;y=410&amp;w=1364&amp;h=894&amp;store=1&amp;accept=image%2F*&amp;auth=LCA%20491187fdd0b8a689d1a7af51ce754e4537607ada395e58300bacbd0b360b5aa1-ts%3D1679412623"/>
          <p:cNvPicPr/>
          <p:nvPr/>
        </p:nvPicPr>
        <p:blipFill>
          <a:blip r:embed="rId2"/>
          <a:stretch>
            <a:fillRect/>
          </a:stretch>
        </p:blipFill>
        <p:spPr bwMode="auto">
          <a:xfrm>
            <a:off x="381000" y="1600200"/>
            <a:ext cx="8305799" cy="487679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400" dirty="0" smtClean="0"/>
              <a:t>FIRST LEVEL DFD FOR ADMIN :</a:t>
            </a:r>
            <a:br>
              <a:rPr lang="en-US" sz="2400" dirty="0" smtClean="0"/>
            </a:br>
            <a:endParaRPr lang="en-US" sz="2400" dirty="0"/>
          </a:p>
        </p:txBody>
      </p:sp>
      <p:pic>
        <p:nvPicPr>
          <p:cNvPr id="4" name="Picture 3" descr="https://documents.lucid.app/documents/2044da21-0c19-4cbc-a784-7137cbfede5a/pages/3cIHGngH88Rh?a=4885&amp;x=178&amp;y=410&amp;w=1364&amp;h=894&amp;store=1&amp;accept=image%2F*&amp;auth=LCA%2014fdf9c17814018bd8474c93938d9ecaf19d1c9eeda79e7d48437611b22cb4f9-ts%3D1679457618"/>
          <p:cNvPicPr/>
          <p:nvPr/>
        </p:nvPicPr>
        <p:blipFill>
          <a:blip r:embed="rId2"/>
          <a:stretch>
            <a:fillRect/>
          </a:stretch>
        </p:blipFill>
        <p:spPr bwMode="auto">
          <a:xfrm>
            <a:off x="381001" y="1828800"/>
            <a:ext cx="8382000" cy="4648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2700" dirty="0" smtClean="0"/>
              <a:t>E-R DIGRAM:</a:t>
            </a:r>
            <a:r>
              <a:rPr lang="en-US" dirty="0" smtClean="0"/>
              <a:t/>
            </a:r>
            <a:br>
              <a:rPr lang="en-US" dirty="0" smtClean="0"/>
            </a:br>
            <a:endParaRPr lang="en-US" dirty="0"/>
          </a:p>
        </p:txBody>
      </p:sp>
      <p:pic>
        <p:nvPicPr>
          <p:cNvPr id="4" name="Picture 3" descr="https://documents.lucid.app/documents/638d9e7a-eb6a-48a1-b78c-89dd618cc7d0/pages/0_0?a=1738&amp;x=-3465&amp;y=-1273&amp;w=1430&amp;h=1166&amp;store=1&amp;accept=image%2F*&amp;auth=LCA%20e40a3cf691d55b2c85e508fc23dcbb42d2ad5768b0febb03aa58c1c4a8b626f6-ts%3D1679314563"/>
          <p:cNvPicPr/>
          <p:nvPr/>
        </p:nvPicPr>
        <p:blipFill>
          <a:blip r:embed="rId2"/>
          <a:stretch>
            <a:fillRect/>
          </a:stretch>
        </p:blipFill>
        <p:spPr bwMode="auto">
          <a:xfrm>
            <a:off x="381000" y="1371600"/>
            <a:ext cx="8305799" cy="51054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85800"/>
            <a:ext cx="9144000" cy="762000"/>
          </a:xfrm>
        </p:spPr>
        <p:txBody>
          <a:bodyPr>
            <a:normAutofit fontScale="90000"/>
          </a:bodyPr>
          <a:lstStyle/>
          <a:p>
            <a:pPr algn="ctr"/>
            <a:r>
              <a:rPr lang="en-US" sz="2400" dirty="0" smtClean="0"/>
              <a:t>USER TABLE:</a:t>
            </a:r>
            <a:r>
              <a:rPr lang="en-US" b="0" dirty="0" smtClean="0"/>
              <a:t/>
            </a:r>
            <a:br>
              <a:rPr lang="en-US" b="0" dirty="0" smtClean="0"/>
            </a:br>
            <a:endParaRPr lang="en-US" b="0" dirty="0"/>
          </a:p>
        </p:txBody>
      </p:sp>
      <p:pic>
        <p:nvPicPr>
          <p:cNvPr id="19458" name="Picture 160" descr="Primary"/>
          <p:cNvPicPr>
            <a:picLocks noChangeAspect="1" noChangeArrowheads="1"/>
          </p:cNvPicPr>
          <p:nvPr/>
        </p:nvPicPr>
        <p:blipFill>
          <a:blip r:embed="rId2"/>
          <a:srcRect/>
          <a:stretch>
            <a:fillRect/>
          </a:stretch>
        </p:blipFill>
        <p:spPr bwMode="auto">
          <a:xfrm>
            <a:off x="0" y="0"/>
            <a:ext cx="7938" cy="7938"/>
          </a:xfrm>
          <a:prstGeom prst="rect">
            <a:avLst/>
          </a:prstGeom>
          <a:noFill/>
        </p:spPr>
      </p:pic>
      <p:pic>
        <p:nvPicPr>
          <p:cNvPr id="19457" name="Picture 161" descr="Index"/>
          <p:cNvPicPr>
            <a:picLocks noChangeAspect="1" noChangeArrowheads="1"/>
          </p:cNvPicPr>
          <p:nvPr/>
        </p:nvPicPr>
        <p:blipFill>
          <a:blip r:embed="rId2"/>
          <a:srcRect/>
          <a:stretch>
            <a:fillRect/>
          </a:stretch>
        </p:blipFill>
        <p:spPr bwMode="auto">
          <a:xfrm>
            <a:off x="0" y="0"/>
            <a:ext cx="7938" cy="7938"/>
          </a:xfrm>
          <a:prstGeom prst="rect">
            <a:avLst/>
          </a:prstGeom>
          <a:noFill/>
        </p:spPr>
      </p:pic>
      <p:graphicFrame>
        <p:nvGraphicFramePr>
          <p:cNvPr id="7" name="Table 6"/>
          <p:cNvGraphicFramePr>
            <a:graphicFrameLocks noGrp="1"/>
          </p:cNvGraphicFramePr>
          <p:nvPr>
            <p:extLst>
              <p:ext uri="{D42A27DB-BD31-4B8C-83A1-F6EECF244321}">
                <p14:modId xmlns="" xmlns:p14="http://schemas.microsoft.com/office/powerpoint/2010/main" val="1886368575"/>
              </p:ext>
            </p:extLst>
          </p:nvPr>
        </p:nvGraphicFramePr>
        <p:xfrm>
          <a:off x="179512" y="1295400"/>
          <a:ext cx="8784976" cy="5445964"/>
        </p:xfrm>
        <a:graphic>
          <a:graphicData uri="http://schemas.openxmlformats.org/drawingml/2006/table">
            <a:tbl>
              <a:tblPr firstRow="1" firstCol="1" bandRow="1">
                <a:tableStyleId>{284E427A-3D55-4303-BF80-6455036E1DE7}</a:tableStyleId>
              </a:tblPr>
              <a:tblGrid>
                <a:gridCol w="1927100"/>
                <a:gridCol w="1927981"/>
                <a:gridCol w="1324608"/>
                <a:gridCol w="1802204"/>
                <a:gridCol w="1803083"/>
              </a:tblGrid>
              <a:tr h="548436">
                <a:tc>
                  <a:txBody>
                    <a:bodyPr/>
                    <a:lstStyle/>
                    <a:p>
                      <a:pPr>
                        <a:lnSpc>
                          <a:spcPct val="115000"/>
                        </a:lnSpc>
                        <a:spcAft>
                          <a:spcPts val="0"/>
                        </a:spcAft>
                      </a:pPr>
                      <a:r>
                        <a:rPr lang="en-GB" sz="1400" dirty="0">
                          <a:effectLst/>
                        </a:rPr>
                        <a:t>Field Name</a:t>
                      </a:r>
                      <a:endParaRPr lang="en-IN" sz="1100" dirty="0">
                        <a:effectLst/>
                        <a:latin typeface="Calibri"/>
                        <a:ea typeface="Calibri"/>
                        <a:cs typeface="Shruti"/>
                      </a:endParaRPr>
                    </a:p>
                  </a:txBody>
                  <a:tcPr marL="67649" marR="67649" marT="0" marB="0"/>
                </a:tc>
                <a:tc>
                  <a:txBody>
                    <a:bodyPr/>
                    <a:lstStyle/>
                    <a:p>
                      <a:pPr>
                        <a:lnSpc>
                          <a:spcPct val="115000"/>
                        </a:lnSpc>
                        <a:spcAft>
                          <a:spcPts val="0"/>
                        </a:spcAft>
                      </a:pPr>
                      <a:r>
                        <a:rPr lang="en-GB" sz="1400" dirty="0">
                          <a:effectLst/>
                        </a:rPr>
                        <a:t>Field type</a:t>
                      </a:r>
                      <a:endParaRPr lang="en-IN" sz="1100" dirty="0">
                        <a:effectLst/>
                        <a:latin typeface="Calibri"/>
                        <a:ea typeface="Calibri"/>
                        <a:cs typeface="Shruti"/>
                      </a:endParaRPr>
                    </a:p>
                  </a:txBody>
                  <a:tcPr marL="67649" marR="67649" marT="0" marB="0"/>
                </a:tc>
                <a:tc>
                  <a:txBody>
                    <a:bodyPr/>
                    <a:lstStyle/>
                    <a:p>
                      <a:pPr>
                        <a:lnSpc>
                          <a:spcPct val="115000"/>
                        </a:lnSpc>
                        <a:spcAft>
                          <a:spcPts val="0"/>
                        </a:spcAft>
                      </a:pPr>
                      <a:r>
                        <a:rPr lang="en-GB" sz="1400" dirty="0">
                          <a:effectLst/>
                        </a:rPr>
                        <a:t>Size</a:t>
                      </a:r>
                      <a:endParaRPr lang="en-IN" sz="1100" dirty="0">
                        <a:effectLst/>
                        <a:latin typeface="Calibri"/>
                        <a:ea typeface="Calibri"/>
                        <a:cs typeface="Shruti"/>
                      </a:endParaRPr>
                    </a:p>
                  </a:txBody>
                  <a:tcPr marL="67649" marR="67649" marT="0" marB="0"/>
                </a:tc>
                <a:tc>
                  <a:txBody>
                    <a:bodyPr/>
                    <a:lstStyle/>
                    <a:p>
                      <a:pPr>
                        <a:lnSpc>
                          <a:spcPct val="115000"/>
                        </a:lnSpc>
                        <a:spcAft>
                          <a:spcPts val="0"/>
                        </a:spcAft>
                      </a:pPr>
                      <a:r>
                        <a:rPr lang="en-GB" sz="1400" dirty="0">
                          <a:effectLst/>
                        </a:rPr>
                        <a:t>Constraint</a:t>
                      </a:r>
                      <a:endParaRPr lang="en-IN" sz="1100" dirty="0">
                        <a:effectLst/>
                        <a:latin typeface="Calibri"/>
                        <a:ea typeface="Calibri"/>
                        <a:cs typeface="Shruti"/>
                      </a:endParaRPr>
                    </a:p>
                  </a:txBody>
                  <a:tcPr marL="67649" marR="67649" marT="0" marB="0"/>
                </a:tc>
                <a:tc>
                  <a:txBody>
                    <a:bodyPr/>
                    <a:lstStyle/>
                    <a:p>
                      <a:pPr>
                        <a:lnSpc>
                          <a:spcPct val="115000"/>
                        </a:lnSpc>
                        <a:spcAft>
                          <a:spcPts val="0"/>
                        </a:spcAft>
                      </a:pPr>
                      <a:r>
                        <a:rPr lang="en-GB" sz="1400" dirty="0">
                          <a:effectLst/>
                        </a:rPr>
                        <a:t>Description</a:t>
                      </a:r>
                      <a:endParaRPr lang="en-IN" sz="1100" dirty="0">
                        <a:effectLst/>
                        <a:latin typeface="Calibri"/>
                        <a:ea typeface="Calibri"/>
                        <a:cs typeface="Shruti"/>
                      </a:endParaRPr>
                    </a:p>
                  </a:txBody>
                  <a:tcPr marL="67649" marR="67649" marT="0" marB="0"/>
                </a:tc>
              </a:tr>
              <a:tr h="510040">
                <a:tc>
                  <a:txBody>
                    <a:bodyPr/>
                    <a:lstStyle/>
                    <a:p>
                      <a:pPr>
                        <a:lnSpc>
                          <a:spcPct val="115000"/>
                        </a:lnSpc>
                        <a:spcAft>
                          <a:spcPts val="0"/>
                        </a:spcAft>
                      </a:pPr>
                      <a:r>
                        <a:rPr lang="en-IN" sz="1400" dirty="0">
                          <a:effectLst/>
                        </a:rPr>
                        <a:t>id  </a:t>
                      </a:r>
                      <a:endParaRPr lang="en-IN" sz="1100" dirty="0">
                        <a:effectLst/>
                        <a:latin typeface="Calibri"/>
                        <a:ea typeface="Calibri"/>
                        <a:cs typeface="Shruti"/>
                      </a:endParaRPr>
                    </a:p>
                  </a:txBody>
                  <a:tcPr marL="67649" marR="67649" marT="0" marB="0" anchor="ctr"/>
                </a:tc>
                <a:tc>
                  <a:txBody>
                    <a:bodyPr/>
                    <a:lstStyle/>
                    <a:p>
                      <a:pPr>
                        <a:lnSpc>
                          <a:spcPct val="115000"/>
                        </a:lnSpc>
                        <a:spcAft>
                          <a:spcPts val="0"/>
                        </a:spcAft>
                      </a:pPr>
                      <a:r>
                        <a:rPr lang="en-GB" sz="1400" dirty="0">
                          <a:effectLst/>
                        </a:rPr>
                        <a:t>Int</a:t>
                      </a:r>
                      <a:endParaRPr lang="en-IN" sz="1100" dirty="0">
                        <a:effectLst/>
                        <a:latin typeface="Calibri"/>
                        <a:ea typeface="Calibri"/>
                        <a:cs typeface="Shruti"/>
                      </a:endParaRPr>
                    </a:p>
                  </a:txBody>
                  <a:tcPr marL="67649" marR="67649" marT="0" marB="0" anchor="ctr"/>
                </a:tc>
                <a:tc>
                  <a:txBody>
                    <a:bodyPr/>
                    <a:lstStyle/>
                    <a:p>
                      <a:pPr>
                        <a:lnSpc>
                          <a:spcPct val="115000"/>
                        </a:lnSpc>
                        <a:spcAft>
                          <a:spcPts val="0"/>
                        </a:spcAft>
                      </a:pPr>
                      <a:r>
                        <a:rPr lang="en-GB" sz="1400" dirty="0">
                          <a:effectLst/>
                          <a:latin typeface="Cambria"/>
                          <a:ea typeface="Times New Roman"/>
                          <a:cs typeface="Shruti"/>
                        </a:rPr>
                        <a:t>11</a:t>
                      </a:r>
                      <a:endParaRPr lang="en-IN" sz="1100" dirty="0">
                        <a:effectLst/>
                        <a:latin typeface="Calibri"/>
                        <a:ea typeface="Calibri"/>
                        <a:cs typeface="Shruti"/>
                      </a:endParaRPr>
                    </a:p>
                  </a:txBody>
                  <a:tcPr marL="68580" marR="68580" marT="0" marB="0"/>
                </a:tc>
                <a:tc>
                  <a:txBody>
                    <a:bodyPr/>
                    <a:lstStyle/>
                    <a:p>
                      <a:pPr>
                        <a:lnSpc>
                          <a:spcPct val="115000"/>
                        </a:lnSpc>
                        <a:spcAft>
                          <a:spcPts val="0"/>
                        </a:spcAft>
                      </a:pPr>
                      <a:r>
                        <a:rPr lang="en-GB" sz="1400" dirty="0">
                          <a:effectLst/>
                        </a:rPr>
                        <a:t>Primary key</a:t>
                      </a:r>
                      <a:endParaRPr lang="en-IN" sz="1100" dirty="0">
                        <a:effectLst/>
                        <a:latin typeface="Calibri"/>
                        <a:ea typeface="Calibri"/>
                        <a:cs typeface="Shruti"/>
                      </a:endParaRPr>
                    </a:p>
                  </a:txBody>
                  <a:tcPr marL="67649" marR="67649" marT="0" marB="0"/>
                </a:tc>
                <a:tc>
                  <a:txBody>
                    <a:bodyPr/>
                    <a:lstStyle/>
                    <a:p>
                      <a:pPr>
                        <a:lnSpc>
                          <a:spcPct val="115000"/>
                        </a:lnSpc>
                        <a:spcAft>
                          <a:spcPts val="0"/>
                        </a:spcAft>
                      </a:pPr>
                      <a:r>
                        <a:rPr lang="en-GB" sz="1400" dirty="0">
                          <a:effectLst/>
                        </a:rPr>
                        <a:t>Store id</a:t>
                      </a:r>
                      <a:endParaRPr lang="en-IN" sz="1100" dirty="0">
                        <a:effectLst/>
                        <a:latin typeface="Calibri"/>
                        <a:ea typeface="Calibri"/>
                        <a:cs typeface="Shruti"/>
                      </a:endParaRPr>
                    </a:p>
                  </a:txBody>
                  <a:tcPr marL="67649" marR="67649" marT="0" marB="0"/>
                </a:tc>
              </a:tr>
              <a:tr h="548436">
                <a:tc>
                  <a:txBody>
                    <a:bodyPr/>
                    <a:lstStyle/>
                    <a:p>
                      <a:pPr>
                        <a:lnSpc>
                          <a:spcPct val="115000"/>
                        </a:lnSpc>
                        <a:spcAft>
                          <a:spcPts val="0"/>
                        </a:spcAft>
                      </a:pPr>
                      <a:r>
                        <a:rPr lang="en-IN" sz="1400" dirty="0">
                          <a:effectLst/>
                        </a:rPr>
                        <a:t>fname</a:t>
                      </a:r>
                      <a:endParaRPr lang="en-IN" sz="1100" dirty="0">
                        <a:effectLst/>
                        <a:latin typeface="Calibri"/>
                        <a:ea typeface="Calibri"/>
                        <a:cs typeface="Shruti"/>
                      </a:endParaRPr>
                    </a:p>
                  </a:txBody>
                  <a:tcPr marL="67649" marR="67649" marT="0" marB="0" anchor="ctr"/>
                </a:tc>
                <a:tc>
                  <a:txBody>
                    <a:bodyPr/>
                    <a:lstStyle/>
                    <a:p>
                      <a:pPr>
                        <a:lnSpc>
                          <a:spcPct val="115000"/>
                        </a:lnSpc>
                        <a:spcAft>
                          <a:spcPts val="0"/>
                        </a:spcAft>
                      </a:pPr>
                      <a:r>
                        <a:rPr lang="en-GB" sz="1400" dirty="0">
                          <a:effectLst/>
                        </a:rPr>
                        <a:t>Varchar</a:t>
                      </a:r>
                      <a:endParaRPr lang="en-IN" sz="1100" dirty="0">
                        <a:effectLst/>
                        <a:latin typeface="Calibri"/>
                        <a:ea typeface="Calibri"/>
                        <a:cs typeface="Shruti"/>
                      </a:endParaRPr>
                    </a:p>
                  </a:txBody>
                  <a:tcPr marL="67649" marR="67649" marT="0" marB="0" anchor="ctr"/>
                </a:tc>
                <a:tc>
                  <a:txBody>
                    <a:bodyPr/>
                    <a:lstStyle/>
                    <a:p>
                      <a:pPr>
                        <a:lnSpc>
                          <a:spcPct val="115000"/>
                        </a:lnSpc>
                        <a:spcAft>
                          <a:spcPts val="0"/>
                        </a:spcAft>
                      </a:pPr>
                      <a:r>
                        <a:rPr lang="en-GB" sz="1400">
                          <a:effectLst/>
                          <a:latin typeface="Cambria"/>
                          <a:ea typeface="Times New Roman"/>
                          <a:cs typeface="Shruti"/>
                        </a:rPr>
                        <a:t>50</a:t>
                      </a:r>
                      <a:endParaRPr lang="en-IN" sz="1100">
                        <a:effectLst/>
                        <a:latin typeface="Calibri"/>
                        <a:ea typeface="Calibri"/>
                        <a:cs typeface="Shruti"/>
                      </a:endParaRPr>
                    </a:p>
                  </a:txBody>
                  <a:tcPr marL="68580" marR="68580" marT="0" marB="0"/>
                </a:tc>
                <a:tc>
                  <a:txBody>
                    <a:bodyPr/>
                    <a:lstStyle/>
                    <a:p>
                      <a:pPr>
                        <a:lnSpc>
                          <a:spcPct val="115000"/>
                        </a:lnSpc>
                        <a:spcAft>
                          <a:spcPts val="0"/>
                        </a:spcAft>
                      </a:pPr>
                      <a:r>
                        <a:rPr lang="en-GB" sz="1400" dirty="0">
                          <a:effectLst/>
                        </a:rPr>
                        <a:t>Not null</a:t>
                      </a:r>
                      <a:endParaRPr lang="en-IN" sz="1100" dirty="0">
                        <a:effectLst/>
                        <a:latin typeface="Calibri"/>
                        <a:ea typeface="Calibri"/>
                        <a:cs typeface="Shruti"/>
                      </a:endParaRPr>
                    </a:p>
                  </a:txBody>
                  <a:tcPr marL="67649" marR="67649" marT="0" marB="0"/>
                </a:tc>
                <a:tc>
                  <a:txBody>
                    <a:bodyPr/>
                    <a:lstStyle/>
                    <a:p>
                      <a:pPr>
                        <a:lnSpc>
                          <a:spcPct val="115000"/>
                        </a:lnSpc>
                        <a:spcAft>
                          <a:spcPts val="0"/>
                        </a:spcAft>
                      </a:pPr>
                      <a:r>
                        <a:rPr lang="en-GB" sz="1400" dirty="0">
                          <a:effectLst/>
                        </a:rPr>
                        <a:t>Store fname</a:t>
                      </a:r>
                      <a:endParaRPr lang="en-IN" sz="1100" dirty="0">
                        <a:effectLst/>
                        <a:latin typeface="Calibri"/>
                        <a:ea typeface="Calibri"/>
                        <a:cs typeface="Shruti"/>
                      </a:endParaRPr>
                    </a:p>
                  </a:txBody>
                  <a:tcPr marL="67649" marR="67649" marT="0" marB="0"/>
                </a:tc>
              </a:tr>
              <a:tr h="548436">
                <a:tc>
                  <a:txBody>
                    <a:bodyPr/>
                    <a:lstStyle/>
                    <a:p>
                      <a:pPr>
                        <a:lnSpc>
                          <a:spcPct val="115000"/>
                        </a:lnSpc>
                        <a:spcAft>
                          <a:spcPts val="0"/>
                        </a:spcAft>
                      </a:pPr>
                      <a:r>
                        <a:rPr lang="en-IN" sz="1400" dirty="0" smtClean="0">
                          <a:effectLst/>
                        </a:rPr>
                        <a:t>Lname</a:t>
                      </a:r>
                      <a:endParaRPr lang="en-IN" sz="1100" dirty="0">
                        <a:effectLst/>
                        <a:latin typeface="Calibri"/>
                        <a:ea typeface="Calibri"/>
                        <a:cs typeface="Shruti"/>
                      </a:endParaRPr>
                    </a:p>
                  </a:txBody>
                  <a:tcPr marL="67649" marR="67649" marT="0" marB="0" anchor="ctr"/>
                </a:tc>
                <a:tc>
                  <a:txBody>
                    <a:bodyPr/>
                    <a:lstStyle/>
                    <a:p>
                      <a:pPr>
                        <a:lnSpc>
                          <a:spcPct val="115000"/>
                        </a:lnSpc>
                        <a:spcAft>
                          <a:spcPts val="0"/>
                        </a:spcAft>
                      </a:pPr>
                      <a:r>
                        <a:rPr lang="en-GB" sz="1400" dirty="0">
                          <a:effectLst/>
                        </a:rPr>
                        <a:t>Varchar</a:t>
                      </a:r>
                      <a:endParaRPr lang="en-IN" sz="1100" dirty="0">
                        <a:effectLst/>
                        <a:latin typeface="Calibri"/>
                        <a:ea typeface="Calibri"/>
                        <a:cs typeface="Shruti"/>
                      </a:endParaRPr>
                    </a:p>
                  </a:txBody>
                  <a:tcPr marL="67649" marR="67649" marT="0" marB="0" anchor="ctr"/>
                </a:tc>
                <a:tc>
                  <a:txBody>
                    <a:bodyPr/>
                    <a:lstStyle/>
                    <a:p>
                      <a:pPr>
                        <a:lnSpc>
                          <a:spcPct val="115000"/>
                        </a:lnSpc>
                        <a:spcAft>
                          <a:spcPts val="0"/>
                        </a:spcAft>
                      </a:pPr>
                      <a:r>
                        <a:rPr lang="en-GB" sz="1400">
                          <a:effectLst/>
                          <a:latin typeface="Cambria"/>
                          <a:ea typeface="Times New Roman"/>
                          <a:cs typeface="Shruti"/>
                        </a:rPr>
                        <a:t>50</a:t>
                      </a:r>
                      <a:endParaRPr lang="en-IN" sz="1100">
                        <a:effectLst/>
                        <a:latin typeface="Calibri"/>
                        <a:ea typeface="Calibri"/>
                        <a:cs typeface="Shruti"/>
                      </a:endParaRPr>
                    </a:p>
                  </a:txBody>
                  <a:tcPr marL="68580" marR="68580" marT="0" marB="0"/>
                </a:tc>
                <a:tc>
                  <a:txBody>
                    <a:bodyPr/>
                    <a:lstStyle/>
                    <a:p>
                      <a:pPr>
                        <a:lnSpc>
                          <a:spcPct val="115000"/>
                        </a:lnSpc>
                        <a:spcAft>
                          <a:spcPts val="0"/>
                        </a:spcAft>
                      </a:pPr>
                      <a:r>
                        <a:rPr lang="en-GB" sz="1400" dirty="0">
                          <a:effectLst/>
                        </a:rPr>
                        <a:t>Not null</a:t>
                      </a:r>
                      <a:endParaRPr lang="en-IN" sz="1100" dirty="0">
                        <a:effectLst/>
                        <a:latin typeface="Calibri"/>
                        <a:ea typeface="Calibri"/>
                        <a:cs typeface="Shruti"/>
                      </a:endParaRPr>
                    </a:p>
                  </a:txBody>
                  <a:tcPr marL="67649" marR="67649" marT="0" marB="0"/>
                </a:tc>
                <a:tc>
                  <a:txBody>
                    <a:bodyPr/>
                    <a:lstStyle/>
                    <a:p>
                      <a:pPr>
                        <a:lnSpc>
                          <a:spcPct val="115000"/>
                        </a:lnSpc>
                        <a:spcAft>
                          <a:spcPts val="0"/>
                        </a:spcAft>
                      </a:pPr>
                      <a:r>
                        <a:rPr lang="en-GB" sz="1400" dirty="0">
                          <a:effectLst/>
                        </a:rPr>
                        <a:t>Store lname</a:t>
                      </a:r>
                      <a:endParaRPr lang="en-IN" sz="1100" dirty="0">
                        <a:effectLst/>
                        <a:latin typeface="Calibri"/>
                        <a:ea typeface="Calibri"/>
                        <a:cs typeface="Shruti"/>
                      </a:endParaRPr>
                    </a:p>
                  </a:txBody>
                  <a:tcPr marL="67649" marR="67649" marT="0" marB="0"/>
                </a:tc>
              </a:tr>
              <a:tr h="548436">
                <a:tc>
                  <a:txBody>
                    <a:bodyPr/>
                    <a:lstStyle/>
                    <a:p>
                      <a:pPr>
                        <a:lnSpc>
                          <a:spcPct val="115000"/>
                        </a:lnSpc>
                        <a:spcAft>
                          <a:spcPts val="0"/>
                        </a:spcAft>
                      </a:pPr>
                      <a:r>
                        <a:rPr lang="en-IN" sz="1400" dirty="0" smtClean="0">
                          <a:effectLst/>
                        </a:rPr>
                        <a:t>Address</a:t>
                      </a:r>
                      <a:endParaRPr lang="en-IN" sz="1100" dirty="0">
                        <a:effectLst/>
                        <a:latin typeface="Calibri"/>
                        <a:ea typeface="Calibri"/>
                        <a:cs typeface="Shruti"/>
                      </a:endParaRPr>
                    </a:p>
                  </a:txBody>
                  <a:tcPr marL="67649" marR="67649" marT="0" marB="0" anchor="ctr"/>
                </a:tc>
                <a:tc>
                  <a:txBody>
                    <a:bodyPr/>
                    <a:lstStyle/>
                    <a:p>
                      <a:pPr>
                        <a:lnSpc>
                          <a:spcPct val="115000"/>
                        </a:lnSpc>
                        <a:spcAft>
                          <a:spcPts val="0"/>
                        </a:spcAft>
                      </a:pPr>
                      <a:r>
                        <a:rPr lang="en-GB" sz="1400" dirty="0" smtClean="0">
                          <a:effectLst/>
                        </a:rPr>
                        <a:t>Varchar</a:t>
                      </a:r>
                      <a:endParaRPr lang="en-IN" sz="1100" dirty="0">
                        <a:effectLst/>
                        <a:latin typeface="Calibri"/>
                        <a:ea typeface="Calibri"/>
                        <a:cs typeface="Shruti"/>
                      </a:endParaRPr>
                    </a:p>
                  </a:txBody>
                  <a:tcPr marL="67649" marR="67649" marT="0" marB="0" anchor="ctr"/>
                </a:tc>
                <a:tc>
                  <a:txBody>
                    <a:bodyPr/>
                    <a:lstStyle/>
                    <a:p>
                      <a:pPr>
                        <a:lnSpc>
                          <a:spcPct val="115000"/>
                        </a:lnSpc>
                        <a:spcAft>
                          <a:spcPts val="0"/>
                        </a:spcAft>
                      </a:pPr>
                      <a:r>
                        <a:rPr lang="en-GB" sz="1400">
                          <a:effectLst/>
                          <a:latin typeface="Cambria"/>
                          <a:ea typeface="Times New Roman"/>
                          <a:cs typeface="Shruti"/>
                        </a:rPr>
                        <a:t>100</a:t>
                      </a:r>
                      <a:endParaRPr lang="en-IN" sz="1100">
                        <a:effectLst/>
                        <a:latin typeface="Calibri"/>
                        <a:ea typeface="Calibri"/>
                        <a:cs typeface="Shruti"/>
                      </a:endParaRPr>
                    </a:p>
                  </a:txBody>
                  <a:tcPr marL="68580" marR="68580" marT="0" marB="0"/>
                </a:tc>
                <a:tc>
                  <a:txBody>
                    <a:bodyPr/>
                    <a:lstStyle/>
                    <a:p>
                      <a:pPr>
                        <a:lnSpc>
                          <a:spcPct val="115000"/>
                        </a:lnSpc>
                        <a:spcAft>
                          <a:spcPts val="0"/>
                        </a:spcAft>
                      </a:pPr>
                      <a:r>
                        <a:rPr lang="en-GB" sz="1400" dirty="0">
                          <a:effectLst/>
                        </a:rPr>
                        <a:t>Not null</a:t>
                      </a:r>
                      <a:endParaRPr lang="en-IN" sz="1100" dirty="0">
                        <a:effectLst/>
                        <a:latin typeface="Calibri"/>
                        <a:ea typeface="Calibri"/>
                        <a:cs typeface="Shruti"/>
                      </a:endParaRPr>
                    </a:p>
                  </a:txBody>
                  <a:tcPr marL="67649" marR="67649" marT="0" marB="0"/>
                </a:tc>
                <a:tc>
                  <a:txBody>
                    <a:bodyPr/>
                    <a:lstStyle/>
                    <a:p>
                      <a:pPr>
                        <a:lnSpc>
                          <a:spcPct val="115000"/>
                        </a:lnSpc>
                        <a:spcAft>
                          <a:spcPts val="0"/>
                        </a:spcAft>
                      </a:pPr>
                      <a:r>
                        <a:rPr lang="en-GB" sz="1400" dirty="0">
                          <a:effectLst/>
                        </a:rPr>
                        <a:t>Store address</a:t>
                      </a:r>
                      <a:endParaRPr lang="en-IN" sz="1100" dirty="0">
                        <a:effectLst/>
                        <a:latin typeface="Calibri"/>
                        <a:ea typeface="Calibri"/>
                        <a:cs typeface="Shruti"/>
                      </a:endParaRPr>
                    </a:p>
                  </a:txBody>
                  <a:tcPr marL="67649" marR="67649" marT="0" marB="0"/>
                </a:tc>
              </a:tr>
              <a:tr h="548436">
                <a:tc>
                  <a:txBody>
                    <a:bodyPr/>
                    <a:lstStyle/>
                    <a:p>
                      <a:pPr>
                        <a:lnSpc>
                          <a:spcPct val="115000"/>
                        </a:lnSpc>
                        <a:spcAft>
                          <a:spcPts val="0"/>
                        </a:spcAft>
                      </a:pPr>
                      <a:r>
                        <a:rPr lang="en-IN" sz="1400" dirty="0" smtClean="0">
                          <a:effectLst/>
                        </a:rPr>
                        <a:t>City</a:t>
                      </a:r>
                      <a:endParaRPr lang="en-IN" sz="1100" dirty="0">
                        <a:effectLst/>
                        <a:latin typeface="Calibri"/>
                        <a:ea typeface="Calibri"/>
                        <a:cs typeface="Shruti"/>
                      </a:endParaRPr>
                    </a:p>
                  </a:txBody>
                  <a:tcPr marL="67649" marR="67649" marT="0" marB="0" anchor="ctr"/>
                </a:tc>
                <a:tc>
                  <a:txBody>
                    <a:bodyPr/>
                    <a:lstStyle/>
                    <a:p>
                      <a:pPr>
                        <a:lnSpc>
                          <a:spcPct val="115000"/>
                        </a:lnSpc>
                        <a:spcAft>
                          <a:spcPts val="0"/>
                        </a:spcAft>
                      </a:pPr>
                      <a:r>
                        <a:rPr lang="en-GB" sz="1400" dirty="0">
                          <a:effectLst/>
                        </a:rPr>
                        <a:t>Varchar</a:t>
                      </a:r>
                      <a:endParaRPr lang="en-IN" sz="1100" dirty="0">
                        <a:effectLst/>
                        <a:latin typeface="Calibri"/>
                        <a:ea typeface="Calibri"/>
                        <a:cs typeface="Shruti"/>
                      </a:endParaRPr>
                    </a:p>
                  </a:txBody>
                  <a:tcPr marL="67649" marR="67649" marT="0" marB="0" anchor="ctr"/>
                </a:tc>
                <a:tc>
                  <a:txBody>
                    <a:bodyPr/>
                    <a:lstStyle/>
                    <a:p>
                      <a:pPr>
                        <a:lnSpc>
                          <a:spcPct val="115000"/>
                        </a:lnSpc>
                        <a:spcAft>
                          <a:spcPts val="0"/>
                        </a:spcAft>
                      </a:pPr>
                      <a:r>
                        <a:rPr lang="en-GB" sz="1400">
                          <a:effectLst/>
                          <a:latin typeface="Cambria"/>
                          <a:ea typeface="Times New Roman"/>
                          <a:cs typeface="Shruti"/>
                        </a:rPr>
                        <a:t>100</a:t>
                      </a:r>
                      <a:endParaRPr lang="en-IN" sz="1100">
                        <a:effectLst/>
                        <a:latin typeface="Calibri"/>
                        <a:ea typeface="Calibri"/>
                        <a:cs typeface="Shruti"/>
                      </a:endParaRPr>
                    </a:p>
                  </a:txBody>
                  <a:tcPr marL="68580" marR="68580" marT="0" marB="0"/>
                </a:tc>
                <a:tc>
                  <a:txBody>
                    <a:bodyPr/>
                    <a:lstStyle/>
                    <a:p>
                      <a:pPr>
                        <a:lnSpc>
                          <a:spcPct val="115000"/>
                        </a:lnSpc>
                        <a:spcAft>
                          <a:spcPts val="0"/>
                        </a:spcAft>
                      </a:pPr>
                      <a:r>
                        <a:rPr lang="en-GB" sz="1400" dirty="0">
                          <a:effectLst/>
                        </a:rPr>
                        <a:t>Not null</a:t>
                      </a:r>
                      <a:endParaRPr lang="en-IN" sz="1100" dirty="0">
                        <a:effectLst/>
                        <a:latin typeface="Calibri"/>
                        <a:ea typeface="Calibri"/>
                        <a:cs typeface="Shruti"/>
                      </a:endParaRPr>
                    </a:p>
                  </a:txBody>
                  <a:tcPr marL="67649" marR="67649" marT="0" marB="0"/>
                </a:tc>
                <a:tc>
                  <a:txBody>
                    <a:bodyPr/>
                    <a:lstStyle/>
                    <a:p>
                      <a:pPr>
                        <a:lnSpc>
                          <a:spcPct val="115000"/>
                        </a:lnSpc>
                        <a:spcAft>
                          <a:spcPts val="0"/>
                        </a:spcAft>
                      </a:pPr>
                      <a:r>
                        <a:rPr lang="en-GB" sz="1400" dirty="0">
                          <a:effectLst/>
                        </a:rPr>
                        <a:t>Store city</a:t>
                      </a:r>
                      <a:endParaRPr lang="en-IN" sz="1100" dirty="0">
                        <a:effectLst/>
                        <a:latin typeface="Calibri"/>
                        <a:ea typeface="Calibri"/>
                        <a:cs typeface="Shruti"/>
                      </a:endParaRPr>
                    </a:p>
                  </a:txBody>
                  <a:tcPr marL="67649" marR="67649" marT="0" marB="0"/>
                </a:tc>
              </a:tr>
              <a:tr h="548436">
                <a:tc>
                  <a:txBody>
                    <a:bodyPr/>
                    <a:lstStyle/>
                    <a:p>
                      <a:pPr>
                        <a:lnSpc>
                          <a:spcPct val="115000"/>
                        </a:lnSpc>
                        <a:spcAft>
                          <a:spcPts val="0"/>
                        </a:spcAft>
                      </a:pPr>
                      <a:r>
                        <a:rPr lang="en-IN" sz="1400" dirty="0" smtClean="0">
                          <a:effectLst/>
                        </a:rPr>
                        <a:t>Pin</a:t>
                      </a:r>
                      <a:endParaRPr lang="en-IN" sz="1100" dirty="0">
                        <a:effectLst/>
                        <a:latin typeface="Calibri"/>
                        <a:ea typeface="Calibri"/>
                        <a:cs typeface="Shruti"/>
                      </a:endParaRPr>
                    </a:p>
                  </a:txBody>
                  <a:tcPr marL="67649" marR="67649" marT="0" marB="0" anchor="ctr"/>
                </a:tc>
                <a:tc>
                  <a:txBody>
                    <a:bodyPr/>
                    <a:lstStyle/>
                    <a:p>
                      <a:pPr>
                        <a:lnSpc>
                          <a:spcPct val="115000"/>
                        </a:lnSpc>
                        <a:spcAft>
                          <a:spcPts val="0"/>
                        </a:spcAft>
                      </a:pPr>
                      <a:r>
                        <a:rPr lang="en-GB" sz="1400" dirty="0">
                          <a:effectLst/>
                        </a:rPr>
                        <a:t>Int</a:t>
                      </a:r>
                      <a:endParaRPr lang="en-IN" sz="1100" dirty="0">
                        <a:effectLst/>
                        <a:latin typeface="Calibri"/>
                        <a:ea typeface="Calibri"/>
                        <a:cs typeface="Shruti"/>
                      </a:endParaRPr>
                    </a:p>
                  </a:txBody>
                  <a:tcPr marL="67649" marR="67649" marT="0" marB="0" anchor="ctr"/>
                </a:tc>
                <a:tc>
                  <a:txBody>
                    <a:bodyPr/>
                    <a:lstStyle/>
                    <a:p>
                      <a:pPr>
                        <a:lnSpc>
                          <a:spcPct val="115000"/>
                        </a:lnSpc>
                        <a:spcAft>
                          <a:spcPts val="0"/>
                        </a:spcAft>
                      </a:pPr>
                      <a:r>
                        <a:rPr lang="en-GB" sz="1400">
                          <a:effectLst/>
                          <a:latin typeface="Cambria"/>
                          <a:ea typeface="Times New Roman"/>
                          <a:cs typeface="Shruti"/>
                        </a:rPr>
                        <a:t>6</a:t>
                      </a:r>
                      <a:endParaRPr lang="en-IN" sz="1100">
                        <a:effectLst/>
                        <a:latin typeface="Calibri"/>
                        <a:ea typeface="Calibri"/>
                        <a:cs typeface="Shruti"/>
                      </a:endParaRPr>
                    </a:p>
                  </a:txBody>
                  <a:tcPr marL="68580" marR="68580" marT="0" marB="0"/>
                </a:tc>
                <a:tc>
                  <a:txBody>
                    <a:bodyPr/>
                    <a:lstStyle/>
                    <a:p>
                      <a:pPr>
                        <a:lnSpc>
                          <a:spcPct val="115000"/>
                        </a:lnSpc>
                        <a:spcAft>
                          <a:spcPts val="0"/>
                        </a:spcAft>
                      </a:pPr>
                      <a:r>
                        <a:rPr lang="en-GB" sz="1400" dirty="0">
                          <a:effectLst/>
                        </a:rPr>
                        <a:t>Not null</a:t>
                      </a:r>
                      <a:endParaRPr lang="en-IN" sz="1100" dirty="0">
                        <a:effectLst/>
                        <a:latin typeface="Calibri"/>
                        <a:ea typeface="Calibri"/>
                        <a:cs typeface="Shruti"/>
                      </a:endParaRPr>
                    </a:p>
                  </a:txBody>
                  <a:tcPr marL="67649" marR="67649" marT="0" marB="0"/>
                </a:tc>
                <a:tc>
                  <a:txBody>
                    <a:bodyPr/>
                    <a:lstStyle/>
                    <a:p>
                      <a:pPr>
                        <a:lnSpc>
                          <a:spcPct val="115000"/>
                        </a:lnSpc>
                        <a:spcAft>
                          <a:spcPts val="0"/>
                        </a:spcAft>
                      </a:pPr>
                      <a:r>
                        <a:rPr lang="en-GB" sz="1400" dirty="0">
                          <a:effectLst/>
                        </a:rPr>
                        <a:t>Store pin</a:t>
                      </a:r>
                      <a:endParaRPr lang="en-IN" sz="1100" dirty="0">
                        <a:effectLst/>
                        <a:latin typeface="Calibri"/>
                        <a:ea typeface="Calibri"/>
                        <a:cs typeface="Shruti"/>
                      </a:endParaRPr>
                    </a:p>
                  </a:txBody>
                  <a:tcPr marL="67649" marR="67649" marT="0" marB="0"/>
                </a:tc>
              </a:tr>
              <a:tr h="548436">
                <a:tc>
                  <a:txBody>
                    <a:bodyPr/>
                    <a:lstStyle/>
                    <a:p>
                      <a:pPr>
                        <a:lnSpc>
                          <a:spcPct val="115000"/>
                        </a:lnSpc>
                        <a:spcAft>
                          <a:spcPts val="0"/>
                        </a:spcAft>
                      </a:pPr>
                      <a:r>
                        <a:rPr lang="en-IN" sz="1400" dirty="0">
                          <a:effectLst/>
                        </a:rPr>
                        <a:t>email  </a:t>
                      </a:r>
                      <a:endParaRPr lang="en-IN" sz="1100" dirty="0">
                        <a:effectLst/>
                        <a:latin typeface="Calibri"/>
                        <a:ea typeface="Calibri"/>
                        <a:cs typeface="Shruti"/>
                      </a:endParaRPr>
                    </a:p>
                  </a:txBody>
                  <a:tcPr marL="67649" marR="67649" marT="0" marB="0" anchor="ctr"/>
                </a:tc>
                <a:tc>
                  <a:txBody>
                    <a:bodyPr/>
                    <a:lstStyle/>
                    <a:p>
                      <a:pPr>
                        <a:lnSpc>
                          <a:spcPct val="115000"/>
                        </a:lnSpc>
                        <a:spcAft>
                          <a:spcPts val="0"/>
                        </a:spcAft>
                      </a:pPr>
                      <a:r>
                        <a:rPr lang="en-GB" sz="1400" dirty="0">
                          <a:effectLst/>
                        </a:rPr>
                        <a:t>Varchar</a:t>
                      </a:r>
                      <a:endParaRPr lang="en-IN" sz="1100" dirty="0">
                        <a:effectLst/>
                        <a:latin typeface="Calibri"/>
                        <a:ea typeface="Calibri"/>
                        <a:cs typeface="Shruti"/>
                      </a:endParaRPr>
                    </a:p>
                  </a:txBody>
                  <a:tcPr marL="67649" marR="67649" marT="0" marB="0" anchor="ctr"/>
                </a:tc>
                <a:tc>
                  <a:txBody>
                    <a:bodyPr/>
                    <a:lstStyle/>
                    <a:p>
                      <a:pPr>
                        <a:lnSpc>
                          <a:spcPct val="115000"/>
                        </a:lnSpc>
                        <a:spcAft>
                          <a:spcPts val="0"/>
                        </a:spcAft>
                      </a:pPr>
                      <a:r>
                        <a:rPr lang="en-GB" sz="1400">
                          <a:effectLst/>
                          <a:latin typeface="Cambria"/>
                          <a:ea typeface="Times New Roman"/>
                          <a:cs typeface="Shruti"/>
                        </a:rPr>
                        <a:t>100</a:t>
                      </a:r>
                      <a:endParaRPr lang="en-IN" sz="1100">
                        <a:effectLst/>
                        <a:latin typeface="Calibri"/>
                        <a:ea typeface="Calibri"/>
                        <a:cs typeface="Shruti"/>
                      </a:endParaRPr>
                    </a:p>
                  </a:txBody>
                  <a:tcPr marL="68580" marR="68580" marT="0" marB="0"/>
                </a:tc>
                <a:tc>
                  <a:txBody>
                    <a:bodyPr/>
                    <a:lstStyle/>
                    <a:p>
                      <a:pPr>
                        <a:lnSpc>
                          <a:spcPct val="115000"/>
                        </a:lnSpc>
                        <a:spcAft>
                          <a:spcPts val="0"/>
                        </a:spcAft>
                      </a:pPr>
                      <a:r>
                        <a:rPr lang="en-GB" sz="1400" dirty="0">
                          <a:effectLst/>
                        </a:rPr>
                        <a:t>Not null</a:t>
                      </a:r>
                      <a:endParaRPr lang="en-IN" sz="1100" dirty="0">
                        <a:effectLst/>
                        <a:latin typeface="Calibri"/>
                        <a:ea typeface="Calibri"/>
                        <a:cs typeface="Shruti"/>
                      </a:endParaRPr>
                    </a:p>
                  </a:txBody>
                  <a:tcPr marL="67649" marR="67649" marT="0" marB="0"/>
                </a:tc>
                <a:tc>
                  <a:txBody>
                    <a:bodyPr/>
                    <a:lstStyle/>
                    <a:p>
                      <a:pPr>
                        <a:lnSpc>
                          <a:spcPct val="115000"/>
                        </a:lnSpc>
                        <a:spcAft>
                          <a:spcPts val="0"/>
                        </a:spcAft>
                      </a:pPr>
                      <a:r>
                        <a:rPr lang="en-GB" sz="1400" dirty="0">
                          <a:effectLst/>
                        </a:rPr>
                        <a:t>Store email</a:t>
                      </a:r>
                      <a:endParaRPr lang="en-IN" sz="1100" dirty="0">
                        <a:effectLst/>
                        <a:latin typeface="Calibri"/>
                        <a:ea typeface="Calibri"/>
                        <a:cs typeface="Shruti"/>
                      </a:endParaRPr>
                    </a:p>
                  </a:txBody>
                  <a:tcPr marL="67649" marR="67649" marT="0" marB="0"/>
                </a:tc>
              </a:tr>
              <a:tr h="548436">
                <a:tc>
                  <a:txBody>
                    <a:bodyPr/>
                    <a:lstStyle/>
                    <a:p>
                      <a:pPr>
                        <a:lnSpc>
                          <a:spcPct val="115000"/>
                        </a:lnSpc>
                        <a:spcAft>
                          <a:spcPts val="0"/>
                        </a:spcAft>
                      </a:pPr>
                      <a:r>
                        <a:rPr lang="en-IN" sz="1400" dirty="0" smtClean="0">
                          <a:effectLst/>
                        </a:rPr>
                        <a:t>Password</a:t>
                      </a:r>
                      <a:endParaRPr lang="en-IN" sz="1100" dirty="0">
                        <a:effectLst/>
                        <a:latin typeface="Calibri"/>
                        <a:ea typeface="Calibri"/>
                        <a:cs typeface="Shruti"/>
                      </a:endParaRPr>
                    </a:p>
                  </a:txBody>
                  <a:tcPr marL="67649" marR="67649" marT="0" marB="0" anchor="ctr"/>
                </a:tc>
                <a:tc>
                  <a:txBody>
                    <a:bodyPr/>
                    <a:lstStyle/>
                    <a:p>
                      <a:pPr>
                        <a:lnSpc>
                          <a:spcPct val="115000"/>
                        </a:lnSpc>
                        <a:spcAft>
                          <a:spcPts val="0"/>
                        </a:spcAft>
                      </a:pPr>
                      <a:r>
                        <a:rPr lang="en-GB" sz="1400" dirty="0">
                          <a:effectLst/>
                        </a:rPr>
                        <a:t>Varchar</a:t>
                      </a:r>
                      <a:endParaRPr lang="en-IN" sz="1100" dirty="0">
                        <a:effectLst/>
                        <a:latin typeface="Calibri"/>
                        <a:ea typeface="Calibri"/>
                        <a:cs typeface="Shruti"/>
                      </a:endParaRPr>
                    </a:p>
                  </a:txBody>
                  <a:tcPr marL="67649" marR="67649" marT="0" marB="0" anchor="ctr"/>
                </a:tc>
                <a:tc>
                  <a:txBody>
                    <a:bodyPr/>
                    <a:lstStyle/>
                    <a:p>
                      <a:pPr>
                        <a:lnSpc>
                          <a:spcPct val="115000"/>
                        </a:lnSpc>
                        <a:spcAft>
                          <a:spcPts val="0"/>
                        </a:spcAft>
                      </a:pPr>
                      <a:r>
                        <a:rPr lang="en-GB" sz="1400">
                          <a:effectLst/>
                          <a:latin typeface="Cambria"/>
                          <a:ea typeface="Times New Roman"/>
                          <a:cs typeface="Shruti"/>
                        </a:rPr>
                        <a:t>15</a:t>
                      </a:r>
                      <a:endParaRPr lang="en-IN" sz="1100">
                        <a:effectLst/>
                        <a:latin typeface="Calibri"/>
                        <a:ea typeface="Calibri"/>
                        <a:cs typeface="Shruti"/>
                      </a:endParaRPr>
                    </a:p>
                  </a:txBody>
                  <a:tcPr marL="68580" marR="68580" marT="0" marB="0"/>
                </a:tc>
                <a:tc>
                  <a:txBody>
                    <a:bodyPr/>
                    <a:lstStyle/>
                    <a:p>
                      <a:pPr>
                        <a:lnSpc>
                          <a:spcPct val="115000"/>
                        </a:lnSpc>
                        <a:spcAft>
                          <a:spcPts val="0"/>
                        </a:spcAft>
                      </a:pPr>
                      <a:r>
                        <a:rPr lang="en-GB" sz="1400" dirty="0">
                          <a:effectLst/>
                        </a:rPr>
                        <a:t>Not null</a:t>
                      </a:r>
                      <a:endParaRPr lang="en-IN" sz="1100" dirty="0">
                        <a:effectLst/>
                        <a:latin typeface="Calibri"/>
                        <a:ea typeface="Calibri"/>
                        <a:cs typeface="Shruti"/>
                      </a:endParaRPr>
                    </a:p>
                  </a:txBody>
                  <a:tcPr marL="67649" marR="67649" marT="0" marB="0"/>
                </a:tc>
                <a:tc>
                  <a:txBody>
                    <a:bodyPr/>
                    <a:lstStyle/>
                    <a:p>
                      <a:pPr>
                        <a:lnSpc>
                          <a:spcPct val="115000"/>
                        </a:lnSpc>
                        <a:spcAft>
                          <a:spcPts val="0"/>
                        </a:spcAft>
                      </a:pPr>
                      <a:r>
                        <a:rPr lang="en-GB" sz="1400" dirty="0">
                          <a:effectLst/>
                        </a:rPr>
                        <a:t>Stor pass</a:t>
                      </a:r>
                      <a:endParaRPr lang="en-IN" sz="1100" dirty="0">
                        <a:effectLst/>
                        <a:latin typeface="Calibri"/>
                        <a:ea typeface="Calibri"/>
                        <a:cs typeface="Shruti"/>
                      </a:endParaRPr>
                    </a:p>
                  </a:txBody>
                  <a:tcPr marL="67649" marR="67649" marT="0" marB="0"/>
                </a:tc>
              </a:tr>
              <a:tr h="548436">
                <a:tc>
                  <a:txBody>
                    <a:bodyPr/>
                    <a:lstStyle/>
                    <a:p>
                      <a:pPr>
                        <a:lnSpc>
                          <a:spcPct val="115000"/>
                        </a:lnSpc>
                        <a:spcAft>
                          <a:spcPts val="0"/>
                        </a:spcAft>
                      </a:pPr>
                      <a:r>
                        <a:rPr lang="en-IN" sz="1400" dirty="0" smtClean="0">
                          <a:effectLst/>
                        </a:rPr>
                        <a:t>Type</a:t>
                      </a:r>
                      <a:endParaRPr lang="en-IN" sz="1100" dirty="0">
                        <a:effectLst/>
                        <a:latin typeface="Calibri"/>
                        <a:ea typeface="Calibri"/>
                        <a:cs typeface="Shruti"/>
                      </a:endParaRPr>
                    </a:p>
                  </a:txBody>
                  <a:tcPr marL="67649" marR="67649" marT="0" marB="0" anchor="ctr"/>
                </a:tc>
                <a:tc>
                  <a:txBody>
                    <a:bodyPr/>
                    <a:lstStyle/>
                    <a:p>
                      <a:pPr>
                        <a:lnSpc>
                          <a:spcPct val="115000"/>
                        </a:lnSpc>
                        <a:spcAft>
                          <a:spcPts val="0"/>
                        </a:spcAft>
                      </a:pPr>
                      <a:r>
                        <a:rPr lang="en-GB" sz="1400" dirty="0">
                          <a:effectLst/>
                        </a:rPr>
                        <a:t>Varchar</a:t>
                      </a:r>
                      <a:endParaRPr lang="en-IN" sz="1100" dirty="0">
                        <a:effectLst/>
                        <a:latin typeface="Calibri"/>
                        <a:ea typeface="Calibri"/>
                        <a:cs typeface="Shruti"/>
                      </a:endParaRPr>
                    </a:p>
                  </a:txBody>
                  <a:tcPr marL="67649" marR="67649" marT="0" marB="0" anchor="ctr"/>
                </a:tc>
                <a:tc>
                  <a:txBody>
                    <a:bodyPr/>
                    <a:lstStyle/>
                    <a:p>
                      <a:pPr>
                        <a:lnSpc>
                          <a:spcPct val="115000"/>
                        </a:lnSpc>
                        <a:spcAft>
                          <a:spcPts val="0"/>
                        </a:spcAft>
                      </a:pPr>
                      <a:r>
                        <a:rPr lang="en-GB" sz="1400" dirty="0">
                          <a:effectLst/>
                          <a:latin typeface="Cambria"/>
                          <a:ea typeface="Times New Roman"/>
                          <a:cs typeface="Shruti"/>
                        </a:rPr>
                        <a:t>20</a:t>
                      </a:r>
                      <a:endParaRPr lang="en-IN" sz="1100" dirty="0">
                        <a:effectLst/>
                        <a:latin typeface="Calibri"/>
                        <a:ea typeface="Calibri"/>
                        <a:cs typeface="Shruti"/>
                      </a:endParaRPr>
                    </a:p>
                  </a:txBody>
                  <a:tcPr marL="68580" marR="68580" marT="0" marB="0"/>
                </a:tc>
                <a:tc>
                  <a:txBody>
                    <a:bodyPr/>
                    <a:lstStyle/>
                    <a:p>
                      <a:pPr>
                        <a:lnSpc>
                          <a:spcPct val="115000"/>
                        </a:lnSpc>
                        <a:spcAft>
                          <a:spcPts val="0"/>
                        </a:spcAft>
                      </a:pPr>
                      <a:r>
                        <a:rPr lang="en-GB" sz="1400" dirty="0">
                          <a:effectLst/>
                        </a:rPr>
                        <a:t>Not null</a:t>
                      </a:r>
                      <a:endParaRPr lang="en-IN" sz="1100" dirty="0">
                        <a:effectLst/>
                        <a:latin typeface="Calibri"/>
                        <a:ea typeface="Calibri"/>
                        <a:cs typeface="Shruti"/>
                      </a:endParaRPr>
                    </a:p>
                  </a:txBody>
                  <a:tcPr marL="67649" marR="67649" marT="0" marB="0"/>
                </a:tc>
                <a:tc>
                  <a:txBody>
                    <a:bodyPr/>
                    <a:lstStyle/>
                    <a:p>
                      <a:pPr>
                        <a:lnSpc>
                          <a:spcPct val="115000"/>
                        </a:lnSpc>
                        <a:spcAft>
                          <a:spcPts val="0"/>
                        </a:spcAft>
                      </a:pPr>
                      <a:r>
                        <a:rPr lang="en-GB" sz="1400" dirty="0">
                          <a:effectLst/>
                        </a:rPr>
                        <a:t>Store type</a:t>
                      </a:r>
                      <a:endParaRPr lang="en-IN" sz="1100" dirty="0">
                        <a:effectLst/>
                        <a:latin typeface="Calibri"/>
                        <a:ea typeface="Calibri"/>
                        <a:cs typeface="Shruti"/>
                      </a:endParaRPr>
                    </a:p>
                  </a:txBody>
                  <a:tcPr marL="67649" marR="67649" marT="0" marB="0"/>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305800" cy="381000"/>
          </a:xfrm>
        </p:spPr>
        <p:txBody>
          <a:bodyPr>
            <a:normAutofit fontScale="90000"/>
          </a:bodyPr>
          <a:lstStyle/>
          <a:p>
            <a:pPr algn="ctr"/>
            <a:r>
              <a:rPr lang="en-US" sz="2400" dirty="0" smtClean="0"/>
              <a:t>PRODUCT TABLE:</a:t>
            </a:r>
            <a:endParaRPr lang="en-US" sz="2400" dirty="0"/>
          </a:p>
        </p:txBody>
      </p:sp>
      <p:pic>
        <p:nvPicPr>
          <p:cNvPr id="41988" name="Picture 77" descr="Primary"/>
          <p:cNvPicPr>
            <a:picLocks noChangeAspect="1" noChangeArrowheads="1"/>
          </p:cNvPicPr>
          <p:nvPr/>
        </p:nvPicPr>
        <p:blipFill>
          <a:blip r:embed="rId2"/>
          <a:srcRect/>
          <a:stretch>
            <a:fillRect/>
          </a:stretch>
        </p:blipFill>
        <p:spPr bwMode="auto">
          <a:xfrm>
            <a:off x="0" y="0"/>
            <a:ext cx="15875" cy="15875"/>
          </a:xfrm>
          <a:prstGeom prst="rect">
            <a:avLst/>
          </a:prstGeom>
          <a:noFill/>
        </p:spPr>
      </p:pic>
      <p:pic>
        <p:nvPicPr>
          <p:cNvPr id="41987" name="Picture 1" descr="Primary"/>
          <p:cNvPicPr>
            <a:picLocks noChangeAspect="1" noChangeArrowheads="1"/>
          </p:cNvPicPr>
          <p:nvPr/>
        </p:nvPicPr>
        <p:blipFill>
          <a:blip r:embed="rId2"/>
          <a:srcRect/>
          <a:stretch>
            <a:fillRect/>
          </a:stretch>
        </p:blipFill>
        <p:spPr bwMode="auto">
          <a:xfrm>
            <a:off x="0" y="0"/>
            <a:ext cx="15875" cy="15875"/>
          </a:xfrm>
          <a:prstGeom prst="rect">
            <a:avLst/>
          </a:prstGeom>
          <a:noFill/>
        </p:spPr>
      </p:pic>
      <p:pic>
        <p:nvPicPr>
          <p:cNvPr id="41986" name="Picture 78" descr="Index"/>
          <p:cNvPicPr>
            <a:picLocks noChangeAspect="1" noChangeArrowheads="1"/>
          </p:cNvPicPr>
          <p:nvPr/>
        </p:nvPicPr>
        <p:blipFill>
          <a:blip r:embed="rId2"/>
          <a:srcRect/>
          <a:stretch>
            <a:fillRect/>
          </a:stretch>
        </p:blipFill>
        <p:spPr bwMode="auto">
          <a:xfrm>
            <a:off x="0" y="0"/>
            <a:ext cx="15875" cy="15875"/>
          </a:xfrm>
          <a:prstGeom prst="rect">
            <a:avLst/>
          </a:prstGeom>
          <a:noFill/>
        </p:spPr>
      </p:pic>
      <p:pic>
        <p:nvPicPr>
          <p:cNvPr id="41985" name="Picture 2" descr="Index"/>
          <p:cNvPicPr>
            <a:picLocks noChangeAspect="1" noChangeArrowheads="1"/>
          </p:cNvPicPr>
          <p:nvPr/>
        </p:nvPicPr>
        <p:blipFill>
          <a:blip r:embed="rId2"/>
          <a:srcRect/>
          <a:stretch>
            <a:fillRect/>
          </a:stretch>
        </p:blipFill>
        <p:spPr bwMode="auto">
          <a:xfrm>
            <a:off x="0" y="0"/>
            <a:ext cx="15875" cy="15875"/>
          </a:xfrm>
          <a:prstGeom prst="rect">
            <a:avLst/>
          </a:prstGeom>
          <a:noFill/>
        </p:spPr>
      </p:pic>
      <p:graphicFrame>
        <p:nvGraphicFramePr>
          <p:cNvPr id="10" name="Table 9"/>
          <p:cNvGraphicFramePr>
            <a:graphicFrameLocks noGrp="1"/>
          </p:cNvGraphicFramePr>
          <p:nvPr/>
        </p:nvGraphicFramePr>
        <p:xfrm>
          <a:off x="152399" y="1397001"/>
          <a:ext cx="8839202" cy="5232399"/>
        </p:xfrm>
        <a:graphic>
          <a:graphicData uri="http://schemas.openxmlformats.org/drawingml/2006/table">
            <a:tbl>
              <a:tblPr firstRow="1" firstCol="1" bandRow="1">
                <a:tableStyleId>{775DCB02-9BB8-47FD-8907-85C794F793BA}</a:tableStyleId>
              </a:tblPr>
              <a:tblGrid>
                <a:gridCol w="2387705"/>
                <a:gridCol w="1351888"/>
                <a:gridCol w="1207398"/>
                <a:gridCol w="1672476"/>
                <a:gridCol w="2219735"/>
              </a:tblGrid>
              <a:tr h="690322">
                <a:tc>
                  <a:txBody>
                    <a:bodyPr/>
                    <a:lstStyle/>
                    <a:p>
                      <a:pPr algn="l">
                        <a:lnSpc>
                          <a:spcPct val="115000"/>
                        </a:lnSpc>
                        <a:spcAft>
                          <a:spcPts val="0"/>
                        </a:spcAft>
                      </a:pPr>
                      <a:r>
                        <a:rPr lang="en-GB" sz="1600" dirty="0">
                          <a:effectLst/>
                        </a:rPr>
                        <a:t>Field Name</a:t>
                      </a:r>
                      <a:endParaRPr lang="en-IN" sz="1100" dirty="0">
                        <a:effectLst/>
                        <a:latin typeface="Calibri"/>
                        <a:ea typeface="Calibri"/>
                        <a:cs typeface="Shruti"/>
                      </a:endParaRPr>
                    </a:p>
                  </a:txBody>
                  <a:tcPr marL="68580" marR="68580" marT="0" marB="0"/>
                </a:tc>
                <a:tc>
                  <a:txBody>
                    <a:bodyPr/>
                    <a:lstStyle/>
                    <a:p>
                      <a:pPr algn="l">
                        <a:lnSpc>
                          <a:spcPct val="115000"/>
                        </a:lnSpc>
                        <a:spcAft>
                          <a:spcPts val="0"/>
                        </a:spcAft>
                      </a:pPr>
                      <a:r>
                        <a:rPr lang="en-GB" sz="1600" dirty="0">
                          <a:effectLst/>
                        </a:rPr>
                        <a:t>Field type</a:t>
                      </a:r>
                      <a:endParaRPr lang="en-IN" sz="1100" dirty="0">
                        <a:effectLst/>
                        <a:latin typeface="Calibri"/>
                        <a:ea typeface="Calibri"/>
                        <a:cs typeface="Shruti"/>
                      </a:endParaRPr>
                    </a:p>
                  </a:txBody>
                  <a:tcPr marL="68580" marR="68580" marT="0" marB="0"/>
                </a:tc>
                <a:tc>
                  <a:txBody>
                    <a:bodyPr/>
                    <a:lstStyle/>
                    <a:p>
                      <a:pPr algn="l">
                        <a:lnSpc>
                          <a:spcPct val="115000"/>
                        </a:lnSpc>
                        <a:spcAft>
                          <a:spcPts val="0"/>
                        </a:spcAft>
                      </a:pPr>
                      <a:r>
                        <a:rPr lang="en-GB" sz="1600" dirty="0">
                          <a:effectLst/>
                        </a:rPr>
                        <a:t>Size</a:t>
                      </a:r>
                      <a:endParaRPr lang="en-IN" sz="1100" dirty="0">
                        <a:effectLst/>
                        <a:latin typeface="Calibri"/>
                        <a:ea typeface="Calibri"/>
                        <a:cs typeface="Shruti"/>
                      </a:endParaRPr>
                    </a:p>
                  </a:txBody>
                  <a:tcPr marL="68580" marR="68580" marT="0" marB="0"/>
                </a:tc>
                <a:tc>
                  <a:txBody>
                    <a:bodyPr/>
                    <a:lstStyle/>
                    <a:p>
                      <a:pPr algn="l">
                        <a:lnSpc>
                          <a:spcPct val="115000"/>
                        </a:lnSpc>
                        <a:spcAft>
                          <a:spcPts val="0"/>
                        </a:spcAft>
                      </a:pPr>
                      <a:r>
                        <a:rPr lang="en-GB" sz="1600" dirty="0">
                          <a:effectLst/>
                        </a:rPr>
                        <a:t>Constraint</a:t>
                      </a:r>
                      <a:endParaRPr lang="en-IN" sz="1100" dirty="0">
                        <a:effectLst/>
                        <a:latin typeface="Calibri"/>
                        <a:ea typeface="Calibri"/>
                        <a:cs typeface="Shruti"/>
                      </a:endParaRPr>
                    </a:p>
                  </a:txBody>
                  <a:tcPr marL="68580" marR="68580" marT="0" marB="0"/>
                </a:tc>
                <a:tc>
                  <a:txBody>
                    <a:bodyPr/>
                    <a:lstStyle/>
                    <a:p>
                      <a:pPr algn="l">
                        <a:lnSpc>
                          <a:spcPct val="115000"/>
                        </a:lnSpc>
                        <a:spcAft>
                          <a:spcPts val="0"/>
                        </a:spcAft>
                      </a:pPr>
                      <a:r>
                        <a:rPr lang="en-GB" sz="1600" dirty="0">
                          <a:effectLst/>
                        </a:rPr>
                        <a:t>Description</a:t>
                      </a:r>
                      <a:endParaRPr lang="en-IN" sz="1100" dirty="0">
                        <a:effectLst/>
                        <a:latin typeface="Calibri"/>
                        <a:ea typeface="Calibri"/>
                        <a:cs typeface="Shruti"/>
                      </a:endParaRPr>
                    </a:p>
                  </a:txBody>
                  <a:tcPr marL="68580" marR="68580" marT="0" marB="0"/>
                </a:tc>
              </a:tr>
              <a:tr h="634733">
                <a:tc>
                  <a:txBody>
                    <a:bodyPr/>
                    <a:lstStyle/>
                    <a:p>
                      <a:pPr algn="l">
                        <a:lnSpc>
                          <a:spcPct val="115000"/>
                        </a:lnSpc>
                        <a:spcAft>
                          <a:spcPts val="0"/>
                        </a:spcAft>
                      </a:pPr>
                      <a:r>
                        <a:rPr lang="en-IN" sz="1400" dirty="0">
                          <a:effectLst/>
                        </a:rPr>
                        <a:t>id  </a:t>
                      </a:r>
                      <a:endParaRPr lang="en-IN" sz="1100" dirty="0">
                        <a:effectLst/>
                        <a:latin typeface="Calibri"/>
                        <a:ea typeface="Calibri"/>
                        <a:cs typeface="Shruti"/>
                      </a:endParaRPr>
                    </a:p>
                  </a:txBody>
                  <a:tcPr marL="68580" marR="68580" marT="0" marB="0"/>
                </a:tc>
                <a:tc>
                  <a:txBody>
                    <a:bodyPr/>
                    <a:lstStyle/>
                    <a:p>
                      <a:pPr algn="l">
                        <a:lnSpc>
                          <a:spcPct val="115000"/>
                        </a:lnSpc>
                        <a:spcAft>
                          <a:spcPts val="0"/>
                        </a:spcAft>
                      </a:pPr>
                      <a:r>
                        <a:rPr lang="en-GB" sz="1200" dirty="0">
                          <a:effectLst/>
                        </a:rPr>
                        <a:t>Int</a:t>
                      </a:r>
                      <a:endParaRPr lang="en-IN" sz="1100" dirty="0">
                        <a:effectLst/>
                        <a:latin typeface="Calibri"/>
                        <a:ea typeface="Calibri"/>
                        <a:cs typeface="Shruti"/>
                      </a:endParaRPr>
                    </a:p>
                  </a:txBody>
                  <a:tcPr marL="68580" marR="68580" marT="0" marB="0"/>
                </a:tc>
                <a:tc>
                  <a:txBody>
                    <a:bodyPr/>
                    <a:lstStyle/>
                    <a:p>
                      <a:pPr algn="l">
                        <a:lnSpc>
                          <a:spcPct val="115000"/>
                        </a:lnSpc>
                        <a:spcAft>
                          <a:spcPts val="0"/>
                        </a:spcAft>
                      </a:pPr>
                      <a:r>
                        <a:rPr lang="en-IN" sz="1200" dirty="0">
                          <a:solidFill>
                            <a:srgbClr val="000000"/>
                          </a:solidFill>
                          <a:effectLst/>
                          <a:latin typeface="Arial"/>
                          <a:ea typeface="Times New Roman"/>
                          <a:cs typeface="Shruti"/>
                        </a:rPr>
                        <a:t>11</a:t>
                      </a:r>
                      <a:endParaRPr lang="en-IN" sz="1100" dirty="0">
                        <a:effectLst/>
                        <a:latin typeface="Calibri"/>
                        <a:ea typeface="Calibri"/>
                        <a:cs typeface="Shruti"/>
                      </a:endParaRPr>
                    </a:p>
                  </a:txBody>
                  <a:tcPr marL="68580" marR="68580" marT="0" marB="0"/>
                </a:tc>
                <a:tc>
                  <a:txBody>
                    <a:bodyPr/>
                    <a:lstStyle/>
                    <a:p>
                      <a:pPr algn="l">
                        <a:lnSpc>
                          <a:spcPct val="115000"/>
                        </a:lnSpc>
                        <a:spcAft>
                          <a:spcPts val="0"/>
                        </a:spcAft>
                      </a:pPr>
                      <a:r>
                        <a:rPr lang="en-IN" sz="1200" dirty="0">
                          <a:effectLst/>
                        </a:rPr>
                        <a:t>Primary key</a:t>
                      </a:r>
                      <a:endParaRPr lang="en-IN" sz="1100" dirty="0">
                        <a:effectLst/>
                        <a:latin typeface="Calibri"/>
                        <a:ea typeface="Calibri"/>
                        <a:cs typeface="Shruti"/>
                      </a:endParaRPr>
                    </a:p>
                  </a:txBody>
                  <a:tcPr marL="68580" marR="68580" marT="0" marB="0"/>
                </a:tc>
                <a:tc>
                  <a:txBody>
                    <a:bodyPr/>
                    <a:lstStyle/>
                    <a:p>
                      <a:pPr algn="l">
                        <a:lnSpc>
                          <a:spcPct val="115000"/>
                        </a:lnSpc>
                        <a:spcAft>
                          <a:spcPts val="0"/>
                        </a:spcAft>
                      </a:pPr>
                      <a:r>
                        <a:rPr lang="en-IN" sz="1200" dirty="0">
                          <a:effectLst/>
                        </a:rPr>
                        <a:t>Store id  </a:t>
                      </a:r>
                      <a:endParaRPr lang="en-IN" sz="1100" dirty="0">
                        <a:effectLst/>
                        <a:latin typeface="Calibri"/>
                        <a:ea typeface="Calibri"/>
                        <a:cs typeface="Shruti"/>
                      </a:endParaRPr>
                    </a:p>
                  </a:txBody>
                  <a:tcPr marL="68580" marR="68580" marT="0" marB="0"/>
                </a:tc>
              </a:tr>
              <a:tr h="667715">
                <a:tc>
                  <a:txBody>
                    <a:bodyPr/>
                    <a:lstStyle/>
                    <a:p>
                      <a:pPr algn="l">
                        <a:lnSpc>
                          <a:spcPct val="115000"/>
                        </a:lnSpc>
                        <a:spcAft>
                          <a:spcPts val="0"/>
                        </a:spcAft>
                      </a:pPr>
                      <a:r>
                        <a:rPr lang="en-IN" sz="1400" dirty="0">
                          <a:effectLst/>
                        </a:rPr>
                        <a:t>Product code  </a:t>
                      </a:r>
                      <a:endParaRPr lang="en-IN" sz="1100" dirty="0">
                        <a:effectLst/>
                        <a:latin typeface="Calibri"/>
                        <a:ea typeface="Calibri"/>
                        <a:cs typeface="Shruti"/>
                      </a:endParaRPr>
                    </a:p>
                  </a:txBody>
                  <a:tcPr marL="68580" marR="68580" marT="0" marB="0"/>
                </a:tc>
                <a:tc>
                  <a:txBody>
                    <a:bodyPr/>
                    <a:lstStyle/>
                    <a:p>
                      <a:pPr algn="l">
                        <a:lnSpc>
                          <a:spcPct val="115000"/>
                        </a:lnSpc>
                        <a:spcAft>
                          <a:spcPts val="0"/>
                        </a:spcAft>
                      </a:pPr>
                      <a:r>
                        <a:rPr lang="en-GB" sz="1200" dirty="0">
                          <a:effectLst/>
                        </a:rPr>
                        <a:t>Varchar</a:t>
                      </a:r>
                      <a:endParaRPr lang="en-IN" sz="1100" dirty="0">
                        <a:effectLst/>
                        <a:latin typeface="Calibri"/>
                        <a:ea typeface="Calibri"/>
                        <a:cs typeface="Shruti"/>
                      </a:endParaRPr>
                    </a:p>
                  </a:txBody>
                  <a:tcPr marL="68580" marR="68580" marT="0" marB="0"/>
                </a:tc>
                <a:tc>
                  <a:txBody>
                    <a:bodyPr/>
                    <a:lstStyle/>
                    <a:p>
                      <a:pPr algn="l">
                        <a:lnSpc>
                          <a:spcPct val="115000"/>
                        </a:lnSpc>
                        <a:spcAft>
                          <a:spcPts val="0"/>
                        </a:spcAft>
                      </a:pPr>
                      <a:r>
                        <a:rPr lang="en-IN" sz="1200">
                          <a:solidFill>
                            <a:srgbClr val="000000"/>
                          </a:solidFill>
                          <a:effectLst/>
                          <a:latin typeface="Arial"/>
                          <a:ea typeface="Times New Roman"/>
                          <a:cs typeface="Shruti"/>
                        </a:rPr>
                        <a:t>60</a:t>
                      </a:r>
                      <a:endParaRPr lang="en-IN" sz="1100">
                        <a:effectLst/>
                        <a:latin typeface="Calibri"/>
                        <a:ea typeface="Calibri"/>
                        <a:cs typeface="Shruti"/>
                      </a:endParaRPr>
                    </a:p>
                  </a:txBody>
                  <a:tcPr marL="68580" marR="68580" marT="0" marB="0"/>
                </a:tc>
                <a:tc>
                  <a:txBody>
                    <a:bodyPr/>
                    <a:lstStyle/>
                    <a:p>
                      <a:pPr algn="l">
                        <a:lnSpc>
                          <a:spcPct val="115000"/>
                        </a:lnSpc>
                        <a:spcAft>
                          <a:spcPts val="0"/>
                        </a:spcAft>
                      </a:pPr>
                      <a:r>
                        <a:rPr lang="en-IN" sz="1200" dirty="0">
                          <a:effectLst/>
                        </a:rPr>
                        <a:t>Not null</a:t>
                      </a:r>
                      <a:endParaRPr lang="en-IN" sz="1100" dirty="0">
                        <a:effectLst/>
                        <a:latin typeface="Calibri"/>
                        <a:ea typeface="Calibri"/>
                        <a:cs typeface="Shruti"/>
                      </a:endParaRPr>
                    </a:p>
                  </a:txBody>
                  <a:tcPr marL="68580" marR="68580" marT="0" marB="0"/>
                </a:tc>
                <a:tc>
                  <a:txBody>
                    <a:bodyPr/>
                    <a:lstStyle/>
                    <a:p>
                      <a:pPr algn="l">
                        <a:lnSpc>
                          <a:spcPct val="115000"/>
                        </a:lnSpc>
                        <a:spcAft>
                          <a:spcPts val="0"/>
                        </a:spcAft>
                      </a:pPr>
                      <a:r>
                        <a:rPr lang="en-IN" sz="1200" dirty="0">
                          <a:effectLst/>
                        </a:rPr>
                        <a:t>  Store product code  </a:t>
                      </a:r>
                      <a:endParaRPr lang="en-IN" sz="1100" dirty="0">
                        <a:effectLst/>
                        <a:latin typeface="Calibri"/>
                        <a:ea typeface="Calibri"/>
                        <a:cs typeface="Shruti"/>
                      </a:endParaRPr>
                    </a:p>
                  </a:txBody>
                  <a:tcPr marL="68580" marR="68580" marT="0" marB="0"/>
                </a:tc>
              </a:tr>
              <a:tr h="634733">
                <a:tc>
                  <a:txBody>
                    <a:bodyPr/>
                    <a:lstStyle/>
                    <a:p>
                      <a:pPr algn="l">
                        <a:lnSpc>
                          <a:spcPct val="115000"/>
                        </a:lnSpc>
                        <a:spcAft>
                          <a:spcPts val="0"/>
                        </a:spcAft>
                      </a:pPr>
                      <a:r>
                        <a:rPr lang="en-IN" sz="1400" dirty="0">
                          <a:effectLst/>
                        </a:rPr>
                        <a:t>Product name</a:t>
                      </a:r>
                      <a:endParaRPr lang="en-IN" sz="1100" dirty="0">
                        <a:effectLst/>
                        <a:latin typeface="Calibri"/>
                        <a:ea typeface="Calibri"/>
                        <a:cs typeface="Shruti"/>
                      </a:endParaRPr>
                    </a:p>
                  </a:txBody>
                  <a:tcPr marL="68580" marR="68580" marT="0" marB="0"/>
                </a:tc>
                <a:tc>
                  <a:txBody>
                    <a:bodyPr/>
                    <a:lstStyle/>
                    <a:p>
                      <a:pPr algn="l">
                        <a:lnSpc>
                          <a:spcPct val="115000"/>
                        </a:lnSpc>
                        <a:spcAft>
                          <a:spcPts val="0"/>
                        </a:spcAft>
                      </a:pPr>
                      <a:r>
                        <a:rPr lang="en-GB" sz="1200" dirty="0">
                          <a:effectLst/>
                        </a:rPr>
                        <a:t>Varchar</a:t>
                      </a:r>
                      <a:endParaRPr lang="en-IN" sz="1100" dirty="0">
                        <a:effectLst/>
                        <a:latin typeface="Calibri"/>
                        <a:ea typeface="Calibri"/>
                        <a:cs typeface="Shruti"/>
                      </a:endParaRPr>
                    </a:p>
                  </a:txBody>
                  <a:tcPr marL="68580" marR="68580" marT="0" marB="0"/>
                </a:tc>
                <a:tc>
                  <a:txBody>
                    <a:bodyPr/>
                    <a:lstStyle/>
                    <a:p>
                      <a:pPr algn="l">
                        <a:lnSpc>
                          <a:spcPct val="115000"/>
                        </a:lnSpc>
                        <a:spcAft>
                          <a:spcPts val="0"/>
                        </a:spcAft>
                      </a:pPr>
                      <a:r>
                        <a:rPr lang="en-IN" sz="1200">
                          <a:solidFill>
                            <a:srgbClr val="000000"/>
                          </a:solidFill>
                          <a:effectLst/>
                          <a:latin typeface="Arial"/>
                          <a:ea typeface="Times New Roman"/>
                          <a:cs typeface="Shruti"/>
                        </a:rPr>
                        <a:t>60</a:t>
                      </a:r>
                      <a:endParaRPr lang="en-IN" sz="1100">
                        <a:effectLst/>
                        <a:latin typeface="Calibri"/>
                        <a:ea typeface="Calibri"/>
                        <a:cs typeface="Shruti"/>
                      </a:endParaRPr>
                    </a:p>
                  </a:txBody>
                  <a:tcPr marL="68580" marR="68580" marT="0" marB="0"/>
                </a:tc>
                <a:tc>
                  <a:txBody>
                    <a:bodyPr/>
                    <a:lstStyle/>
                    <a:p>
                      <a:pPr algn="l">
                        <a:lnSpc>
                          <a:spcPct val="115000"/>
                        </a:lnSpc>
                        <a:spcAft>
                          <a:spcPts val="0"/>
                        </a:spcAft>
                      </a:pPr>
                      <a:r>
                        <a:rPr lang="en-IN" sz="1200" dirty="0">
                          <a:effectLst/>
                        </a:rPr>
                        <a:t>Not null</a:t>
                      </a:r>
                      <a:endParaRPr lang="en-IN" sz="1100" dirty="0">
                        <a:effectLst/>
                        <a:latin typeface="Calibri"/>
                        <a:ea typeface="Calibri"/>
                        <a:cs typeface="Shruti"/>
                      </a:endParaRPr>
                    </a:p>
                  </a:txBody>
                  <a:tcPr marL="68580" marR="68580" marT="0" marB="0"/>
                </a:tc>
                <a:tc>
                  <a:txBody>
                    <a:bodyPr/>
                    <a:lstStyle/>
                    <a:p>
                      <a:pPr algn="l">
                        <a:lnSpc>
                          <a:spcPct val="115000"/>
                        </a:lnSpc>
                        <a:spcAft>
                          <a:spcPts val="0"/>
                        </a:spcAft>
                      </a:pPr>
                      <a:r>
                        <a:rPr lang="en-IN" sz="1200" dirty="0">
                          <a:effectLst/>
                        </a:rPr>
                        <a:t>Store product name</a:t>
                      </a:r>
                      <a:endParaRPr lang="en-IN" sz="1100" dirty="0">
                        <a:effectLst/>
                        <a:latin typeface="Calibri"/>
                        <a:ea typeface="Calibri"/>
                        <a:cs typeface="Shruti"/>
                      </a:endParaRPr>
                    </a:p>
                  </a:txBody>
                  <a:tcPr marL="68580" marR="68580" marT="0" marB="0"/>
                </a:tc>
              </a:tr>
              <a:tr h="634733">
                <a:tc>
                  <a:txBody>
                    <a:bodyPr/>
                    <a:lstStyle/>
                    <a:p>
                      <a:pPr algn="l">
                        <a:lnSpc>
                          <a:spcPct val="115000"/>
                        </a:lnSpc>
                        <a:spcAft>
                          <a:spcPts val="0"/>
                        </a:spcAft>
                      </a:pPr>
                      <a:r>
                        <a:rPr lang="en-IN" sz="1400" dirty="0">
                          <a:effectLst/>
                        </a:rPr>
                        <a:t>Product desc</a:t>
                      </a:r>
                      <a:endParaRPr lang="en-IN" sz="1100" dirty="0">
                        <a:effectLst/>
                        <a:latin typeface="Calibri"/>
                        <a:ea typeface="Calibri"/>
                        <a:cs typeface="Shruti"/>
                      </a:endParaRPr>
                    </a:p>
                  </a:txBody>
                  <a:tcPr marL="68580" marR="68580" marT="0" marB="0"/>
                </a:tc>
                <a:tc>
                  <a:txBody>
                    <a:bodyPr/>
                    <a:lstStyle/>
                    <a:p>
                      <a:pPr algn="l">
                        <a:lnSpc>
                          <a:spcPct val="115000"/>
                        </a:lnSpc>
                        <a:spcAft>
                          <a:spcPts val="0"/>
                        </a:spcAft>
                      </a:pPr>
                      <a:r>
                        <a:rPr lang="en-GB" sz="1200" dirty="0">
                          <a:effectLst/>
                        </a:rPr>
                        <a:t>Varchar</a:t>
                      </a:r>
                      <a:endParaRPr lang="en-IN" sz="1100" dirty="0">
                        <a:effectLst/>
                        <a:latin typeface="Calibri"/>
                        <a:ea typeface="Calibri"/>
                        <a:cs typeface="Shruti"/>
                      </a:endParaRPr>
                    </a:p>
                  </a:txBody>
                  <a:tcPr marL="68580" marR="68580" marT="0" marB="0"/>
                </a:tc>
                <a:tc>
                  <a:txBody>
                    <a:bodyPr/>
                    <a:lstStyle/>
                    <a:p>
                      <a:pPr algn="l">
                        <a:lnSpc>
                          <a:spcPct val="115000"/>
                        </a:lnSpc>
                        <a:spcAft>
                          <a:spcPts val="0"/>
                        </a:spcAft>
                      </a:pPr>
                      <a:r>
                        <a:rPr lang="en-IN" sz="1200">
                          <a:solidFill>
                            <a:srgbClr val="000000"/>
                          </a:solidFill>
                          <a:effectLst/>
                          <a:latin typeface="Arial"/>
                          <a:ea typeface="Times New Roman"/>
                          <a:cs typeface="Shruti"/>
                        </a:rPr>
                        <a:t>70</a:t>
                      </a:r>
                      <a:endParaRPr lang="en-IN" sz="1100">
                        <a:effectLst/>
                        <a:latin typeface="Calibri"/>
                        <a:ea typeface="Calibri"/>
                        <a:cs typeface="Shruti"/>
                      </a:endParaRPr>
                    </a:p>
                  </a:txBody>
                  <a:tcPr marL="68580" marR="68580" marT="0" marB="0"/>
                </a:tc>
                <a:tc>
                  <a:txBody>
                    <a:bodyPr/>
                    <a:lstStyle/>
                    <a:p>
                      <a:pPr algn="l">
                        <a:lnSpc>
                          <a:spcPct val="115000"/>
                        </a:lnSpc>
                        <a:spcAft>
                          <a:spcPts val="0"/>
                        </a:spcAft>
                      </a:pPr>
                      <a:r>
                        <a:rPr lang="en-IN" sz="1200" dirty="0">
                          <a:effectLst/>
                        </a:rPr>
                        <a:t>Not null</a:t>
                      </a:r>
                      <a:endParaRPr lang="en-IN" sz="1100" dirty="0">
                        <a:effectLst/>
                        <a:latin typeface="Calibri"/>
                        <a:ea typeface="Calibri"/>
                        <a:cs typeface="Shruti"/>
                      </a:endParaRPr>
                    </a:p>
                  </a:txBody>
                  <a:tcPr marL="68580" marR="68580" marT="0" marB="0"/>
                </a:tc>
                <a:tc>
                  <a:txBody>
                    <a:bodyPr/>
                    <a:lstStyle/>
                    <a:p>
                      <a:pPr algn="l">
                        <a:lnSpc>
                          <a:spcPct val="115000"/>
                        </a:lnSpc>
                        <a:spcAft>
                          <a:spcPts val="0"/>
                        </a:spcAft>
                      </a:pPr>
                      <a:r>
                        <a:rPr lang="en-IN" sz="1200" dirty="0">
                          <a:effectLst/>
                        </a:rPr>
                        <a:t>Store product details</a:t>
                      </a:r>
                      <a:endParaRPr lang="en-IN" sz="1100" dirty="0">
                        <a:effectLst/>
                        <a:latin typeface="Calibri"/>
                        <a:ea typeface="Calibri"/>
                        <a:cs typeface="Shruti"/>
                      </a:endParaRPr>
                    </a:p>
                  </a:txBody>
                  <a:tcPr marL="68580" marR="68580" marT="0" marB="0"/>
                </a:tc>
              </a:tr>
              <a:tr h="667715">
                <a:tc>
                  <a:txBody>
                    <a:bodyPr/>
                    <a:lstStyle/>
                    <a:p>
                      <a:pPr algn="l">
                        <a:lnSpc>
                          <a:spcPct val="115000"/>
                        </a:lnSpc>
                        <a:spcAft>
                          <a:spcPts val="0"/>
                        </a:spcAft>
                      </a:pPr>
                      <a:r>
                        <a:rPr lang="en-IN" sz="1400" dirty="0">
                          <a:effectLst/>
                        </a:rPr>
                        <a:t>Product img name</a:t>
                      </a:r>
                      <a:endParaRPr lang="en-IN" sz="1100" dirty="0">
                        <a:effectLst/>
                        <a:latin typeface="Calibri"/>
                        <a:ea typeface="Calibri"/>
                        <a:cs typeface="Shruti"/>
                      </a:endParaRPr>
                    </a:p>
                  </a:txBody>
                  <a:tcPr marL="68580" marR="68580" marT="0" marB="0"/>
                </a:tc>
                <a:tc>
                  <a:txBody>
                    <a:bodyPr/>
                    <a:lstStyle/>
                    <a:p>
                      <a:pPr algn="l">
                        <a:lnSpc>
                          <a:spcPct val="115000"/>
                        </a:lnSpc>
                        <a:spcAft>
                          <a:spcPts val="0"/>
                        </a:spcAft>
                      </a:pPr>
                      <a:r>
                        <a:rPr lang="en-GB" sz="1200" dirty="0">
                          <a:effectLst/>
                        </a:rPr>
                        <a:t>Varchar</a:t>
                      </a:r>
                      <a:endParaRPr lang="en-IN" sz="1100" dirty="0">
                        <a:effectLst/>
                        <a:latin typeface="Calibri"/>
                        <a:ea typeface="Calibri"/>
                        <a:cs typeface="Shruti"/>
                      </a:endParaRPr>
                    </a:p>
                  </a:txBody>
                  <a:tcPr marL="68580" marR="68580" marT="0" marB="0"/>
                </a:tc>
                <a:tc>
                  <a:txBody>
                    <a:bodyPr/>
                    <a:lstStyle/>
                    <a:p>
                      <a:pPr algn="l">
                        <a:lnSpc>
                          <a:spcPct val="115000"/>
                        </a:lnSpc>
                        <a:spcAft>
                          <a:spcPts val="0"/>
                        </a:spcAft>
                      </a:pPr>
                      <a:r>
                        <a:rPr lang="en-IN" sz="1200">
                          <a:solidFill>
                            <a:srgbClr val="000000"/>
                          </a:solidFill>
                          <a:effectLst/>
                          <a:latin typeface="Arial"/>
                          <a:ea typeface="Times New Roman"/>
                          <a:cs typeface="Shruti"/>
                        </a:rPr>
                        <a:t>60</a:t>
                      </a:r>
                      <a:endParaRPr lang="en-IN" sz="1100">
                        <a:effectLst/>
                        <a:latin typeface="Calibri"/>
                        <a:ea typeface="Calibri"/>
                        <a:cs typeface="Shruti"/>
                      </a:endParaRPr>
                    </a:p>
                  </a:txBody>
                  <a:tcPr marL="68580" marR="68580" marT="0" marB="0"/>
                </a:tc>
                <a:tc>
                  <a:txBody>
                    <a:bodyPr/>
                    <a:lstStyle/>
                    <a:p>
                      <a:pPr algn="l">
                        <a:lnSpc>
                          <a:spcPct val="115000"/>
                        </a:lnSpc>
                        <a:spcAft>
                          <a:spcPts val="0"/>
                        </a:spcAft>
                      </a:pPr>
                      <a:r>
                        <a:rPr lang="en-IN" sz="1200" dirty="0">
                          <a:effectLst/>
                        </a:rPr>
                        <a:t>Not null</a:t>
                      </a:r>
                      <a:endParaRPr lang="en-IN" sz="1100" dirty="0">
                        <a:effectLst/>
                        <a:latin typeface="Calibri"/>
                        <a:ea typeface="Calibri"/>
                        <a:cs typeface="Shruti"/>
                      </a:endParaRPr>
                    </a:p>
                  </a:txBody>
                  <a:tcPr marL="68580" marR="68580" marT="0" marB="0"/>
                </a:tc>
                <a:tc>
                  <a:txBody>
                    <a:bodyPr/>
                    <a:lstStyle/>
                    <a:p>
                      <a:pPr algn="l">
                        <a:lnSpc>
                          <a:spcPct val="115000"/>
                        </a:lnSpc>
                        <a:spcAft>
                          <a:spcPts val="0"/>
                        </a:spcAft>
                      </a:pPr>
                      <a:r>
                        <a:rPr lang="en-IN" sz="1200" dirty="0">
                          <a:effectLst/>
                        </a:rPr>
                        <a:t>Store product img</a:t>
                      </a:r>
                      <a:endParaRPr lang="en-IN" sz="1100" dirty="0">
                        <a:effectLst/>
                        <a:latin typeface="Calibri"/>
                        <a:ea typeface="Calibri"/>
                        <a:cs typeface="Shruti"/>
                      </a:endParaRPr>
                    </a:p>
                  </a:txBody>
                  <a:tcPr marL="68580" marR="68580" marT="0" marB="0"/>
                </a:tc>
              </a:tr>
              <a:tr h="634733">
                <a:tc>
                  <a:txBody>
                    <a:bodyPr/>
                    <a:lstStyle/>
                    <a:p>
                      <a:pPr algn="l">
                        <a:lnSpc>
                          <a:spcPct val="115000"/>
                        </a:lnSpc>
                        <a:spcAft>
                          <a:spcPts val="0"/>
                        </a:spcAft>
                      </a:pPr>
                      <a:r>
                        <a:rPr lang="en-IN" sz="1400" dirty="0">
                          <a:effectLst/>
                        </a:rPr>
                        <a:t>Qty</a:t>
                      </a:r>
                      <a:endParaRPr lang="en-IN" sz="1100" dirty="0">
                        <a:effectLst/>
                        <a:latin typeface="Calibri"/>
                        <a:ea typeface="Calibri"/>
                        <a:cs typeface="Shruti"/>
                      </a:endParaRPr>
                    </a:p>
                  </a:txBody>
                  <a:tcPr marL="68580" marR="68580" marT="0" marB="0"/>
                </a:tc>
                <a:tc>
                  <a:txBody>
                    <a:bodyPr/>
                    <a:lstStyle/>
                    <a:p>
                      <a:pPr algn="l">
                        <a:lnSpc>
                          <a:spcPct val="115000"/>
                        </a:lnSpc>
                        <a:spcAft>
                          <a:spcPts val="0"/>
                        </a:spcAft>
                      </a:pPr>
                      <a:r>
                        <a:rPr lang="en-GB" sz="1200" dirty="0">
                          <a:effectLst/>
                        </a:rPr>
                        <a:t>Int</a:t>
                      </a:r>
                      <a:endParaRPr lang="en-IN" sz="1100" dirty="0">
                        <a:effectLst/>
                        <a:latin typeface="Calibri"/>
                        <a:ea typeface="Calibri"/>
                        <a:cs typeface="Shruti"/>
                      </a:endParaRPr>
                    </a:p>
                  </a:txBody>
                  <a:tcPr marL="68580" marR="68580" marT="0" marB="0"/>
                </a:tc>
                <a:tc>
                  <a:txBody>
                    <a:bodyPr/>
                    <a:lstStyle/>
                    <a:p>
                      <a:pPr algn="l">
                        <a:lnSpc>
                          <a:spcPct val="115000"/>
                        </a:lnSpc>
                        <a:spcAft>
                          <a:spcPts val="0"/>
                        </a:spcAft>
                      </a:pPr>
                      <a:r>
                        <a:rPr lang="en-IN" sz="1200">
                          <a:solidFill>
                            <a:srgbClr val="000000"/>
                          </a:solidFill>
                          <a:effectLst/>
                          <a:latin typeface="Arial"/>
                          <a:ea typeface="Times New Roman"/>
                          <a:cs typeface="Shruti"/>
                        </a:rPr>
                        <a:t>5</a:t>
                      </a:r>
                      <a:endParaRPr lang="en-IN" sz="1100">
                        <a:effectLst/>
                        <a:latin typeface="Calibri"/>
                        <a:ea typeface="Calibri"/>
                        <a:cs typeface="Shruti"/>
                      </a:endParaRPr>
                    </a:p>
                  </a:txBody>
                  <a:tcPr marL="68580" marR="68580" marT="0" marB="0"/>
                </a:tc>
                <a:tc>
                  <a:txBody>
                    <a:bodyPr/>
                    <a:lstStyle/>
                    <a:p>
                      <a:pPr algn="l">
                        <a:lnSpc>
                          <a:spcPct val="115000"/>
                        </a:lnSpc>
                        <a:spcAft>
                          <a:spcPts val="0"/>
                        </a:spcAft>
                      </a:pPr>
                      <a:r>
                        <a:rPr lang="en-IN" sz="1200" dirty="0">
                          <a:effectLst/>
                        </a:rPr>
                        <a:t>Not null</a:t>
                      </a:r>
                      <a:endParaRPr lang="en-IN" sz="1100" dirty="0">
                        <a:effectLst/>
                        <a:latin typeface="Calibri"/>
                        <a:ea typeface="Calibri"/>
                        <a:cs typeface="Shruti"/>
                      </a:endParaRPr>
                    </a:p>
                  </a:txBody>
                  <a:tcPr marL="68580" marR="68580" marT="0" marB="0"/>
                </a:tc>
                <a:tc>
                  <a:txBody>
                    <a:bodyPr/>
                    <a:lstStyle/>
                    <a:p>
                      <a:pPr algn="l">
                        <a:lnSpc>
                          <a:spcPct val="115000"/>
                        </a:lnSpc>
                        <a:spcAft>
                          <a:spcPts val="0"/>
                        </a:spcAft>
                      </a:pPr>
                      <a:r>
                        <a:rPr lang="en-IN" sz="1200" dirty="0">
                          <a:effectLst/>
                        </a:rPr>
                        <a:t>Store quntity</a:t>
                      </a:r>
                      <a:endParaRPr lang="en-IN" sz="1100" dirty="0">
                        <a:effectLst/>
                        <a:latin typeface="Calibri"/>
                        <a:ea typeface="Calibri"/>
                        <a:cs typeface="Shruti"/>
                      </a:endParaRPr>
                    </a:p>
                  </a:txBody>
                  <a:tcPr marL="68580" marR="68580" marT="0" marB="0"/>
                </a:tc>
              </a:tr>
              <a:tr h="667715">
                <a:tc>
                  <a:txBody>
                    <a:bodyPr/>
                    <a:lstStyle/>
                    <a:p>
                      <a:pPr algn="l">
                        <a:lnSpc>
                          <a:spcPct val="115000"/>
                        </a:lnSpc>
                        <a:spcAft>
                          <a:spcPts val="0"/>
                        </a:spcAft>
                      </a:pPr>
                      <a:r>
                        <a:rPr lang="en-IN" sz="1400" dirty="0">
                          <a:effectLst/>
                        </a:rPr>
                        <a:t>Price</a:t>
                      </a:r>
                      <a:endParaRPr lang="en-IN" sz="1100" dirty="0">
                        <a:effectLst/>
                        <a:latin typeface="Calibri"/>
                        <a:ea typeface="Calibri"/>
                        <a:cs typeface="Shruti"/>
                      </a:endParaRPr>
                    </a:p>
                  </a:txBody>
                  <a:tcPr marL="68580" marR="68580" marT="0" marB="0"/>
                </a:tc>
                <a:tc>
                  <a:txBody>
                    <a:bodyPr/>
                    <a:lstStyle/>
                    <a:p>
                      <a:pPr algn="l">
                        <a:lnSpc>
                          <a:spcPct val="115000"/>
                        </a:lnSpc>
                        <a:spcAft>
                          <a:spcPts val="0"/>
                        </a:spcAft>
                      </a:pPr>
                      <a:r>
                        <a:rPr lang="en-GB" sz="1200" dirty="0">
                          <a:effectLst/>
                        </a:rPr>
                        <a:t>decimal</a:t>
                      </a:r>
                      <a:endParaRPr lang="en-IN" sz="1100" dirty="0">
                        <a:effectLst/>
                        <a:latin typeface="Calibri"/>
                        <a:ea typeface="Calibri"/>
                        <a:cs typeface="Shruti"/>
                      </a:endParaRPr>
                    </a:p>
                  </a:txBody>
                  <a:tcPr marL="68580" marR="68580" marT="0" marB="0"/>
                </a:tc>
                <a:tc>
                  <a:txBody>
                    <a:bodyPr/>
                    <a:lstStyle/>
                    <a:p>
                      <a:pPr algn="l">
                        <a:lnSpc>
                          <a:spcPct val="115000"/>
                        </a:lnSpc>
                        <a:spcAft>
                          <a:spcPts val="0"/>
                        </a:spcAft>
                      </a:pPr>
                      <a:r>
                        <a:rPr lang="en-IN" sz="1200" dirty="0">
                          <a:solidFill>
                            <a:srgbClr val="000000"/>
                          </a:solidFill>
                          <a:effectLst/>
                          <a:latin typeface="Arial"/>
                          <a:ea typeface="Times New Roman"/>
                          <a:cs typeface="Shruti"/>
                        </a:rPr>
                        <a:t>10,2</a:t>
                      </a:r>
                      <a:endParaRPr lang="en-IN" sz="1100" dirty="0">
                        <a:effectLst/>
                        <a:latin typeface="Calibri"/>
                        <a:ea typeface="Calibri"/>
                        <a:cs typeface="Shruti"/>
                      </a:endParaRPr>
                    </a:p>
                  </a:txBody>
                  <a:tcPr marL="68580" marR="68580" marT="0" marB="0"/>
                </a:tc>
                <a:tc>
                  <a:txBody>
                    <a:bodyPr/>
                    <a:lstStyle/>
                    <a:p>
                      <a:pPr algn="l">
                        <a:lnSpc>
                          <a:spcPct val="115000"/>
                        </a:lnSpc>
                        <a:spcAft>
                          <a:spcPts val="0"/>
                        </a:spcAft>
                      </a:pPr>
                      <a:r>
                        <a:rPr lang="en-IN" sz="1200" dirty="0">
                          <a:effectLst/>
                        </a:rPr>
                        <a:t>Not null</a:t>
                      </a:r>
                      <a:endParaRPr lang="en-IN" sz="1100" dirty="0">
                        <a:effectLst/>
                        <a:latin typeface="Calibri"/>
                        <a:ea typeface="Calibri"/>
                        <a:cs typeface="Shruti"/>
                      </a:endParaRPr>
                    </a:p>
                  </a:txBody>
                  <a:tcPr marL="68580" marR="68580" marT="0" marB="0"/>
                </a:tc>
                <a:tc>
                  <a:txBody>
                    <a:bodyPr/>
                    <a:lstStyle/>
                    <a:p>
                      <a:pPr algn="l">
                        <a:lnSpc>
                          <a:spcPct val="115000"/>
                        </a:lnSpc>
                        <a:spcAft>
                          <a:spcPts val="0"/>
                        </a:spcAft>
                      </a:pPr>
                      <a:r>
                        <a:rPr lang="en-IN" sz="1200" dirty="0">
                          <a:effectLst/>
                        </a:rPr>
                        <a:t>Store  product price</a:t>
                      </a:r>
                      <a:endParaRPr lang="en-IN" sz="1100" dirty="0">
                        <a:effectLst/>
                        <a:latin typeface="Calibri"/>
                        <a:ea typeface="Calibri"/>
                        <a:cs typeface="Shruti"/>
                      </a:endParaRPr>
                    </a:p>
                  </a:txBody>
                  <a:tcPr marL="68580" marR="68580" marT="0" marB="0"/>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143000"/>
          </a:xfrm>
        </p:spPr>
        <p:txBody>
          <a:bodyPr>
            <a:normAutofit/>
          </a:bodyPr>
          <a:lstStyle/>
          <a:p>
            <a:pPr algn="ctr"/>
            <a:r>
              <a:rPr lang="en-IN" sz="3200" dirty="0" smtClean="0"/>
              <a:t>ORDER TABLE:</a:t>
            </a:r>
            <a:endParaRPr lang="en-US" sz="3200" dirty="0"/>
          </a:p>
        </p:txBody>
      </p:sp>
      <p:graphicFrame>
        <p:nvGraphicFramePr>
          <p:cNvPr id="4" name="Content Placeholder 4"/>
          <p:cNvGraphicFramePr>
            <a:graphicFrameLocks/>
          </p:cNvGraphicFramePr>
          <p:nvPr>
            <p:extLst>
              <p:ext uri="{D42A27DB-BD31-4B8C-83A1-F6EECF244321}">
                <p14:modId xmlns="" xmlns:p14="http://schemas.microsoft.com/office/powerpoint/2010/main" val="14642508"/>
              </p:ext>
            </p:extLst>
          </p:nvPr>
        </p:nvGraphicFramePr>
        <p:xfrm>
          <a:off x="179513" y="1556792"/>
          <a:ext cx="8784974" cy="5112569"/>
        </p:xfrm>
        <a:graphic>
          <a:graphicData uri="http://schemas.openxmlformats.org/drawingml/2006/table">
            <a:tbl>
              <a:tblPr firstRow="1" firstCol="1" bandRow="1">
                <a:tableStyleId>{69C7853C-536D-4A76-A0AE-DD22124D55A5}</a:tableStyleId>
              </a:tblPr>
              <a:tblGrid>
                <a:gridCol w="1755882"/>
                <a:gridCol w="1759591"/>
                <a:gridCol w="1754955"/>
                <a:gridCol w="1754955"/>
                <a:gridCol w="1759591"/>
              </a:tblGrid>
              <a:tr h="795293">
                <a:tc>
                  <a:txBody>
                    <a:bodyPr/>
                    <a:lstStyle/>
                    <a:p>
                      <a:pPr>
                        <a:lnSpc>
                          <a:spcPct val="115000"/>
                        </a:lnSpc>
                        <a:spcAft>
                          <a:spcPts val="0"/>
                        </a:spcAft>
                      </a:pPr>
                      <a:r>
                        <a:rPr lang="en-GB" sz="1600" dirty="0">
                          <a:effectLst/>
                        </a:rPr>
                        <a:t>Field Name</a:t>
                      </a:r>
                      <a:endParaRPr lang="en-IN" sz="1100" dirty="0">
                        <a:effectLst/>
                        <a:latin typeface="Calibri"/>
                        <a:ea typeface="Calibri"/>
                        <a:cs typeface="Shruti"/>
                      </a:endParaRPr>
                    </a:p>
                  </a:txBody>
                  <a:tcPr marL="68580" marR="68580" marT="0" marB="0"/>
                </a:tc>
                <a:tc>
                  <a:txBody>
                    <a:bodyPr/>
                    <a:lstStyle/>
                    <a:p>
                      <a:pPr>
                        <a:lnSpc>
                          <a:spcPct val="115000"/>
                        </a:lnSpc>
                        <a:spcAft>
                          <a:spcPts val="0"/>
                        </a:spcAft>
                      </a:pPr>
                      <a:r>
                        <a:rPr lang="en-GB" sz="1600" dirty="0">
                          <a:effectLst/>
                        </a:rPr>
                        <a:t>Field type</a:t>
                      </a:r>
                      <a:endParaRPr lang="en-IN" sz="1100" dirty="0">
                        <a:effectLst/>
                        <a:latin typeface="Calibri"/>
                        <a:ea typeface="Calibri"/>
                        <a:cs typeface="Shruti"/>
                      </a:endParaRPr>
                    </a:p>
                  </a:txBody>
                  <a:tcPr marL="68580" marR="68580" marT="0" marB="0"/>
                </a:tc>
                <a:tc>
                  <a:txBody>
                    <a:bodyPr/>
                    <a:lstStyle/>
                    <a:p>
                      <a:pPr>
                        <a:lnSpc>
                          <a:spcPct val="115000"/>
                        </a:lnSpc>
                        <a:spcAft>
                          <a:spcPts val="0"/>
                        </a:spcAft>
                      </a:pPr>
                      <a:r>
                        <a:rPr lang="en-GB" sz="1600" dirty="0">
                          <a:effectLst/>
                        </a:rPr>
                        <a:t>Size</a:t>
                      </a:r>
                      <a:endParaRPr lang="en-IN" sz="1100" dirty="0">
                        <a:effectLst/>
                        <a:latin typeface="Calibri"/>
                        <a:ea typeface="Calibri"/>
                        <a:cs typeface="Shruti"/>
                      </a:endParaRPr>
                    </a:p>
                  </a:txBody>
                  <a:tcPr marL="68580" marR="68580" marT="0" marB="0"/>
                </a:tc>
                <a:tc>
                  <a:txBody>
                    <a:bodyPr/>
                    <a:lstStyle/>
                    <a:p>
                      <a:pPr>
                        <a:lnSpc>
                          <a:spcPct val="115000"/>
                        </a:lnSpc>
                        <a:spcAft>
                          <a:spcPts val="0"/>
                        </a:spcAft>
                      </a:pPr>
                      <a:r>
                        <a:rPr lang="en-GB" sz="1600" dirty="0">
                          <a:effectLst/>
                        </a:rPr>
                        <a:t>Constraint</a:t>
                      </a:r>
                      <a:endParaRPr lang="en-IN" sz="1100" dirty="0">
                        <a:effectLst/>
                        <a:latin typeface="Calibri"/>
                        <a:ea typeface="Calibri"/>
                        <a:cs typeface="Shruti"/>
                      </a:endParaRPr>
                    </a:p>
                  </a:txBody>
                  <a:tcPr marL="68580" marR="68580" marT="0" marB="0"/>
                </a:tc>
                <a:tc>
                  <a:txBody>
                    <a:bodyPr/>
                    <a:lstStyle/>
                    <a:p>
                      <a:pPr>
                        <a:lnSpc>
                          <a:spcPct val="115000"/>
                        </a:lnSpc>
                        <a:spcAft>
                          <a:spcPts val="0"/>
                        </a:spcAft>
                      </a:pPr>
                      <a:r>
                        <a:rPr lang="en-GB" sz="1600" dirty="0">
                          <a:effectLst/>
                        </a:rPr>
                        <a:t>Description</a:t>
                      </a:r>
                      <a:endParaRPr lang="en-IN" sz="1100" dirty="0">
                        <a:effectLst/>
                        <a:latin typeface="Calibri"/>
                        <a:ea typeface="Calibri"/>
                        <a:cs typeface="Shruti"/>
                      </a:endParaRPr>
                    </a:p>
                  </a:txBody>
                  <a:tcPr marL="68580" marR="68580" marT="0" marB="0"/>
                </a:tc>
              </a:tr>
              <a:tr h="347942">
                <a:tc>
                  <a:txBody>
                    <a:bodyPr/>
                    <a:lstStyle/>
                    <a:p>
                      <a:pPr>
                        <a:lnSpc>
                          <a:spcPct val="115000"/>
                        </a:lnSpc>
                        <a:spcAft>
                          <a:spcPts val="0"/>
                        </a:spcAft>
                      </a:pPr>
                      <a:r>
                        <a:rPr lang="en-IN" sz="1400" dirty="0">
                          <a:effectLst/>
                        </a:rPr>
                        <a:t>id  </a:t>
                      </a:r>
                      <a:endParaRPr lang="en-IN" sz="1100" dirty="0">
                        <a:effectLst/>
                        <a:latin typeface="Calibri"/>
                        <a:ea typeface="Calibri"/>
                        <a:cs typeface="Shruti"/>
                      </a:endParaRPr>
                    </a:p>
                  </a:txBody>
                  <a:tcPr marL="68580" marR="68580" marT="0" marB="0"/>
                </a:tc>
                <a:tc>
                  <a:txBody>
                    <a:bodyPr/>
                    <a:lstStyle/>
                    <a:p>
                      <a:pPr>
                        <a:lnSpc>
                          <a:spcPct val="115000"/>
                        </a:lnSpc>
                        <a:spcAft>
                          <a:spcPts val="0"/>
                        </a:spcAft>
                      </a:pPr>
                      <a:r>
                        <a:rPr lang="en-GB" sz="1400" dirty="0">
                          <a:effectLst/>
                        </a:rPr>
                        <a:t>Int</a:t>
                      </a:r>
                      <a:endParaRPr lang="en-IN" sz="1100" dirty="0">
                        <a:effectLst/>
                        <a:latin typeface="Calibri"/>
                        <a:ea typeface="Calibri"/>
                        <a:cs typeface="Shruti"/>
                      </a:endParaRPr>
                    </a:p>
                  </a:txBody>
                  <a:tcPr marL="68580" marR="68580" marT="0" marB="0"/>
                </a:tc>
                <a:tc>
                  <a:txBody>
                    <a:bodyPr/>
                    <a:lstStyle/>
                    <a:p>
                      <a:pPr>
                        <a:lnSpc>
                          <a:spcPct val="115000"/>
                        </a:lnSpc>
                        <a:spcAft>
                          <a:spcPts val="0"/>
                        </a:spcAft>
                      </a:pPr>
                      <a:r>
                        <a:rPr lang="en-GB" sz="1400" dirty="0">
                          <a:effectLst/>
                          <a:latin typeface="Cambria"/>
                          <a:ea typeface="Times New Roman"/>
                          <a:cs typeface="Calibri"/>
                        </a:rPr>
                        <a:t>15</a:t>
                      </a:r>
                      <a:endParaRPr lang="en-IN" sz="1100" dirty="0">
                        <a:effectLst/>
                        <a:latin typeface="Calibri"/>
                        <a:ea typeface="Calibri"/>
                        <a:cs typeface="Shruti"/>
                      </a:endParaRPr>
                    </a:p>
                  </a:txBody>
                  <a:tcPr marL="68580" marR="68580" marT="0" marB="0"/>
                </a:tc>
                <a:tc>
                  <a:txBody>
                    <a:bodyPr/>
                    <a:lstStyle/>
                    <a:p>
                      <a:pPr>
                        <a:lnSpc>
                          <a:spcPct val="115000"/>
                        </a:lnSpc>
                        <a:spcAft>
                          <a:spcPts val="0"/>
                        </a:spcAft>
                      </a:pPr>
                      <a:r>
                        <a:rPr lang="en-GB" sz="1400" dirty="0">
                          <a:effectLst/>
                        </a:rPr>
                        <a:t>Primary key</a:t>
                      </a:r>
                      <a:endParaRPr lang="en-IN" sz="1100" dirty="0">
                        <a:effectLst/>
                        <a:latin typeface="Calibri"/>
                        <a:ea typeface="Calibri"/>
                        <a:cs typeface="Shruti"/>
                      </a:endParaRPr>
                    </a:p>
                  </a:txBody>
                  <a:tcPr marL="68580" marR="68580" marT="0" marB="0"/>
                </a:tc>
                <a:tc>
                  <a:txBody>
                    <a:bodyPr/>
                    <a:lstStyle/>
                    <a:p>
                      <a:pPr>
                        <a:lnSpc>
                          <a:spcPct val="115000"/>
                        </a:lnSpc>
                        <a:spcAft>
                          <a:spcPts val="0"/>
                        </a:spcAft>
                      </a:pPr>
                      <a:r>
                        <a:rPr lang="en-IN" sz="1400" dirty="0">
                          <a:effectLst/>
                        </a:rPr>
                        <a:t>Store id  </a:t>
                      </a:r>
                      <a:endParaRPr lang="en-IN" sz="1100" dirty="0">
                        <a:effectLst/>
                        <a:latin typeface="Calibri"/>
                        <a:ea typeface="Calibri"/>
                        <a:cs typeface="Shruti"/>
                      </a:endParaRPr>
                    </a:p>
                  </a:txBody>
                  <a:tcPr marL="68580" marR="68580" marT="0" marB="0"/>
                </a:tc>
              </a:tr>
              <a:tr h="695883">
                <a:tc>
                  <a:txBody>
                    <a:bodyPr/>
                    <a:lstStyle/>
                    <a:p>
                      <a:pPr>
                        <a:lnSpc>
                          <a:spcPct val="115000"/>
                        </a:lnSpc>
                        <a:spcAft>
                          <a:spcPts val="0"/>
                        </a:spcAft>
                      </a:pPr>
                      <a:r>
                        <a:rPr lang="en-IN" sz="1400" dirty="0">
                          <a:effectLst/>
                        </a:rPr>
                        <a:t>Product code</a:t>
                      </a:r>
                      <a:endParaRPr lang="en-IN" sz="1100" dirty="0">
                        <a:effectLst/>
                        <a:latin typeface="Calibri"/>
                        <a:ea typeface="Calibri"/>
                        <a:cs typeface="Shruti"/>
                      </a:endParaRPr>
                    </a:p>
                  </a:txBody>
                  <a:tcPr marL="68580" marR="68580" marT="0" marB="0"/>
                </a:tc>
                <a:tc>
                  <a:txBody>
                    <a:bodyPr/>
                    <a:lstStyle/>
                    <a:p>
                      <a:pPr>
                        <a:lnSpc>
                          <a:spcPct val="115000"/>
                        </a:lnSpc>
                        <a:spcAft>
                          <a:spcPts val="0"/>
                        </a:spcAft>
                      </a:pPr>
                      <a:r>
                        <a:rPr lang="en-GB" sz="1400" dirty="0">
                          <a:effectLst/>
                        </a:rPr>
                        <a:t>Varchar</a:t>
                      </a:r>
                      <a:endParaRPr lang="en-IN" sz="1100" dirty="0">
                        <a:effectLst/>
                        <a:latin typeface="Calibri"/>
                        <a:ea typeface="Calibri"/>
                        <a:cs typeface="Shruti"/>
                      </a:endParaRPr>
                    </a:p>
                  </a:txBody>
                  <a:tcPr marL="68580" marR="68580" marT="0" marB="0"/>
                </a:tc>
                <a:tc>
                  <a:txBody>
                    <a:bodyPr/>
                    <a:lstStyle/>
                    <a:p>
                      <a:pPr>
                        <a:lnSpc>
                          <a:spcPct val="115000"/>
                        </a:lnSpc>
                        <a:spcAft>
                          <a:spcPts val="0"/>
                        </a:spcAft>
                      </a:pPr>
                      <a:r>
                        <a:rPr lang="en-GB" sz="1400">
                          <a:effectLst/>
                          <a:latin typeface="Cambria"/>
                          <a:ea typeface="Times New Roman"/>
                          <a:cs typeface="Calibri"/>
                        </a:rPr>
                        <a:t>50</a:t>
                      </a:r>
                      <a:endParaRPr lang="en-IN" sz="1100">
                        <a:effectLst/>
                        <a:latin typeface="Calibri"/>
                        <a:ea typeface="Calibri"/>
                        <a:cs typeface="Shruti"/>
                      </a:endParaRPr>
                    </a:p>
                  </a:txBody>
                  <a:tcPr marL="68580" marR="68580" marT="0" marB="0"/>
                </a:tc>
                <a:tc>
                  <a:txBody>
                    <a:bodyPr/>
                    <a:lstStyle/>
                    <a:p>
                      <a:pPr>
                        <a:lnSpc>
                          <a:spcPct val="115000"/>
                        </a:lnSpc>
                        <a:spcAft>
                          <a:spcPts val="0"/>
                        </a:spcAft>
                      </a:pPr>
                      <a:r>
                        <a:rPr lang="en-IN" sz="1400" i="1" dirty="0">
                          <a:effectLst/>
                        </a:rPr>
                        <a:t>Not null</a:t>
                      </a:r>
                      <a:endParaRPr lang="en-IN" sz="1100" i="1" dirty="0">
                        <a:effectLst/>
                        <a:latin typeface="Calibri"/>
                        <a:ea typeface="Calibri"/>
                        <a:cs typeface="Shruti"/>
                      </a:endParaRPr>
                    </a:p>
                  </a:txBody>
                  <a:tcPr marL="68580" marR="68580" marT="0" marB="0"/>
                </a:tc>
                <a:tc>
                  <a:txBody>
                    <a:bodyPr/>
                    <a:lstStyle/>
                    <a:p>
                      <a:pPr>
                        <a:lnSpc>
                          <a:spcPct val="115000"/>
                        </a:lnSpc>
                        <a:spcAft>
                          <a:spcPts val="0"/>
                        </a:spcAft>
                      </a:pPr>
                      <a:r>
                        <a:rPr lang="en-IN" sz="1400" dirty="0">
                          <a:effectLst/>
                        </a:rPr>
                        <a:t>Store product code</a:t>
                      </a:r>
                      <a:endParaRPr lang="en-IN" sz="1100" dirty="0">
                        <a:effectLst/>
                        <a:latin typeface="Calibri"/>
                        <a:ea typeface="Calibri"/>
                        <a:cs typeface="Shruti"/>
                      </a:endParaRPr>
                    </a:p>
                  </a:txBody>
                  <a:tcPr marL="68580" marR="68580" marT="0" marB="0"/>
                </a:tc>
              </a:tr>
              <a:tr h="720182">
                <a:tc>
                  <a:txBody>
                    <a:bodyPr/>
                    <a:lstStyle/>
                    <a:p>
                      <a:pPr>
                        <a:lnSpc>
                          <a:spcPct val="115000"/>
                        </a:lnSpc>
                        <a:spcAft>
                          <a:spcPts val="0"/>
                        </a:spcAft>
                      </a:pPr>
                      <a:r>
                        <a:rPr lang="en-IN" sz="1400" dirty="0">
                          <a:effectLst/>
                        </a:rPr>
                        <a:t>Product name</a:t>
                      </a:r>
                      <a:endParaRPr lang="en-IN" sz="1100" dirty="0">
                        <a:effectLst/>
                        <a:latin typeface="Calibri"/>
                        <a:ea typeface="Calibri"/>
                        <a:cs typeface="Shruti"/>
                      </a:endParaRPr>
                    </a:p>
                  </a:txBody>
                  <a:tcPr marL="68580" marR="68580" marT="0" marB="0"/>
                </a:tc>
                <a:tc>
                  <a:txBody>
                    <a:bodyPr/>
                    <a:lstStyle/>
                    <a:p>
                      <a:pPr>
                        <a:lnSpc>
                          <a:spcPct val="115000"/>
                        </a:lnSpc>
                        <a:spcAft>
                          <a:spcPts val="0"/>
                        </a:spcAft>
                      </a:pPr>
                      <a:r>
                        <a:rPr lang="en-GB" sz="1400" dirty="0">
                          <a:effectLst/>
                        </a:rPr>
                        <a:t>Varchar</a:t>
                      </a:r>
                      <a:endParaRPr lang="en-IN" sz="1100" dirty="0">
                        <a:effectLst/>
                        <a:latin typeface="Calibri"/>
                        <a:ea typeface="Calibri"/>
                        <a:cs typeface="Shruti"/>
                      </a:endParaRPr>
                    </a:p>
                  </a:txBody>
                  <a:tcPr marL="68580" marR="68580" marT="0" marB="0"/>
                </a:tc>
                <a:tc>
                  <a:txBody>
                    <a:bodyPr/>
                    <a:lstStyle/>
                    <a:p>
                      <a:pPr>
                        <a:lnSpc>
                          <a:spcPct val="115000"/>
                        </a:lnSpc>
                        <a:spcAft>
                          <a:spcPts val="0"/>
                        </a:spcAft>
                      </a:pPr>
                      <a:r>
                        <a:rPr lang="en-GB" sz="1400">
                          <a:effectLst/>
                          <a:latin typeface="Cambria"/>
                          <a:ea typeface="Times New Roman"/>
                          <a:cs typeface="Calibri"/>
                        </a:rPr>
                        <a:t>50</a:t>
                      </a:r>
                      <a:endParaRPr lang="en-IN" sz="1100">
                        <a:effectLst/>
                        <a:latin typeface="Calibri"/>
                        <a:ea typeface="Calibri"/>
                        <a:cs typeface="Shruti"/>
                      </a:endParaRPr>
                    </a:p>
                  </a:txBody>
                  <a:tcPr marL="68580" marR="68580" marT="0" marB="0"/>
                </a:tc>
                <a:tc>
                  <a:txBody>
                    <a:bodyPr/>
                    <a:lstStyle/>
                    <a:p>
                      <a:pPr>
                        <a:lnSpc>
                          <a:spcPct val="115000"/>
                        </a:lnSpc>
                        <a:spcAft>
                          <a:spcPts val="0"/>
                        </a:spcAft>
                      </a:pPr>
                      <a:r>
                        <a:rPr lang="en-IN" sz="1400" i="1" dirty="0">
                          <a:effectLst/>
                        </a:rPr>
                        <a:t>Not null</a:t>
                      </a:r>
                      <a:endParaRPr lang="en-IN" sz="1100" i="1" dirty="0">
                        <a:effectLst/>
                        <a:latin typeface="Calibri"/>
                        <a:ea typeface="Calibri"/>
                        <a:cs typeface="Shruti"/>
                      </a:endParaRPr>
                    </a:p>
                  </a:txBody>
                  <a:tcPr marL="68580" marR="68580" marT="0" marB="0"/>
                </a:tc>
                <a:tc>
                  <a:txBody>
                    <a:bodyPr/>
                    <a:lstStyle/>
                    <a:p>
                      <a:pPr>
                        <a:lnSpc>
                          <a:spcPct val="115000"/>
                        </a:lnSpc>
                        <a:spcAft>
                          <a:spcPts val="0"/>
                        </a:spcAft>
                      </a:pPr>
                      <a:r>
                        <a:rPr lang="en-IN" sz="1400" dirty="0">
                          <a:effectLst/>
                        </a:rPr>
                        <a:t>Store product name</a:t>
                      </a:r>
                      <a:endParaRPr lang="en-IN" sz="1100" dirty="0">
                        <a:effectLst/>
                        <a:latin typeface="Calibri"/>
                        <a:ea typeface="Calibri"/>
                        <a:cs typeface="Shruti"/>
                      </a:endParaRPr>
                    </a:p>
                  </a:txBody>
                  <a:tcPr marL="68580" marR="68580" marT="0" marB="0"/>
                </a:tc>
              </a:tr>
              <a:tr h="695883">
                <a:tc>
                  <a:txBody>
                    <a:bodyPr/>
                    <a:lstStyle/>
                    <a:p>
                      <a:pPr>
                        <a:lnSpc>
                          <a:spcPct val="115000"/>
                        </a:lnSpc>
                        <a:spcAft>
                          <a:spcPts val="0"/>
                        </a:spcAft>
                      </a:pPr>
                      <a:r>
                        <a:rPr lang="en-IN" sz="1400" dirty="0">
                          <a:effectLst/>
                        </a:rPr>
                        <a:t>Product desc</a:t>
                      </a:r>
                      <a:endParaRPr lang="en-IN" sz="1100" dirty="0">
                        <a:effectLst/>
                        <a:latin typeface="Calibri"/>
                        <a:ea typeface="Calibri"/>
                        <a:cs typeface="Shruti"/>
                      </a:endParaRPr>
                    </a:p>
                  </a:txBody>
                  <a:tcPr marL="68580" marR="68580" marT="0" marB="0"/>
                </a:tc>
                <a:tc>
                  <a:txBody>
                    <a:bodyPr/>
                    <a:lstStyle/>
                    <a:p>
                      <a:pPr>
                        <a:lnSpc>
                          <a:spcPct val="115000"/>
                        </a:lnSpc>
                        <a:spcAft>
                          <a:spcPts val="0"/>
                        </a:spcAft>
                      </a:pPr>
                      <a:r>
                        <a:rPr lang="en-GB" sz="1400" dirty="0">
                          <a:effectLst/>
                        </a:rPr>
                        <a:t>Varchar</a:t>
                      </a:r>
                      <a:endParaRPr lang="en-IN" sz="1100" dirty="0">
                        <a:effectLst/>
                        <a:latin typeface="Calibri"/>
                        <a:ea typeface="Calibri"/>
                        <a:cs typeface="Shruti"/>
                      </a:endParaRPr>
                    </a:p>
                  </a:txBody>
                  <a:tcPr marL="68580" marR="68580" marT="0" marB="0"/>
                </a:tc>
                <a:tc>
                  <a:txBody>
                    <a:bodyPr/>
                    <a:lstStyle/>
                    <a:p>
                      <a:pPr>
                        <a:lnSpc>
                          <a:spcPct val="115000"/>
                        </a:lnSpc>
                        <a:spcAft>
                          <a:spcPts val="0"/>
                        </a:spcAft>
                      </a:pPr>
                      <a:r>
                        <a:rPr lang="en-GB" sz="1400">
                          <a:effectLst/>
                          <a:latin typeface="Cambria"/>
                          <a:ea typeface="Times New Roman"/>
                          <a:cs typeface="Calibri"/>
                        </a:rPr>
                        <a:t>50</a:t>
                      </a:r>
                      <a:endParaRPr lang="en-IN" sz="1100">
                        <a:effectLst/>
                        <a:latin typeface="Calibri"/>
                        <a:ea typeface="Calibri"/>
                        <a:cs typeface="Shruti"/>
                      </a:endParaRPr>
                    </a:p>
                  </a:txBody>
                  <a:tcPr marL="68580" marR="68580" marT="0" marB="0"/>
                </a:tc>
                <a:tc>
                  <a:txBody>
                    <a:bodyPr/>
                    <a:lstStyle/>
                    <a:p>
                      <a:pPr>
                        <a:lnSpc>
                          <a:spcPct val="115000"/>
                        </a:lnSpc>
                        <a:spcAft>
                          <a:spcPts val="0"/>
                        </a:spcAft>
                      </a:pPr>
                      <a:r>
                        <a:rPr lang="en-IN" sz="1400" i="1" dirty="0">
                          <a:effectLst/>
                        </a:rPr>
                        <a:t>Not null</a:t>
                      </a:r>
                      <a:endParaRPr lang="en-IN" sz="1100" i="1" dirty="0">
                        <a:effectLst/>
                        <a:latin typeface="Calibri"/>
                        <a:ea typeface="Calibri"/>
                        <a:cs typeface="Shruti"/>
                      </a:endParaRPr>
                    </a:p>
                  </a:txBody>
                  <a:tcPr marL="68580" marR="68580" marT="0" marB="0"/>
                </a:tc>
                <a:tc>
                  <a:txBody>
                    <a:bodyPr/>
                    <a:lstStyle/>
                    <a:p>
                      <a:pPr>
                        <a:lnSpc>
                          <a:spcPct val="115000"/>
                        </a:lnSpc>
                        <a:spcAft>
                          <a:spcPts val="0"/>
                        </a:spcAft>
                      </a:pPr>
                      <a:r>
                        <a:rPr lang="en-IN" sz="1400" dirty="0">
                          <a:effectLst/>
                        </a:rPr>
                        <a:t>Store product desc</a:t>
                      </a:r>
                      <a:endParaRPr lang="en-IN" sz="1100" dirty="0">
                        <a:effectLst/>
                        <a:latin typeface="Calibri"/>
                        <a:ea typeface="Calibri"/>
                        <a:cs typeface="Shruti"/>
                      </a:endParaRPr>
                    </a:p>
                  </a:txBody>
                  <a:tcPr marL="68580" marR="68580" marT="0" marB="0"/>
                </a:tc>
              </a:tr>
              <a:tr h="461819">
                <a:tc>
                  <a:txBody>
                    <a:bodyPr/>
                    <a:lstStyle/>
                    <a:p>
                      <a:pPr>
                        <a:lnSpc>
                          <a:spcPct val="115000"/>
                        </a:lnSpc>
                        <a:spcAft>
                          <a:spcPts val="0"/>
                        </a:spcAft>
                      </a:pPr>
                      <a:r>
                        <a:rPr lang="en-IN" sz="1400" dirty="0">
                          <a:effectLst/>
                        </a:rPr>
                        <a:t>Price</a:t>
                      </a:r>
                      <a:endParaRPr lang="en-IN" sz="1100" dirty="0">
                        <a:effectLst/>
                        <a:latin typeface="Calibri"/>
                        <a:ea typeface="Calibri"/>
                        <a:cs typeface="Shruti"/>
                      </a:endParaRPr>
                    </a:p>
                  </a:txBody>
                  <a:tcPr marL="68580" marR="68580" marT="0" marB="0"/>
                </a:tc>
                <a:tc>
                  <a:txBody>
                    <a:bodyPr/>
                    <a:lstStyle/>
                    <a:p>
                      <a:pPr>
                        <a:lnSpc>
                          <a:spcPct val="115000"/>
                        </a:lnSpc>
                        <a:spcAft>
                          <a:spcPts val="0"/>
                        </a:spcAft>
                      </a:pPr>
                      <a:r>
                        <a:rPr lang="en-GB" sz="1400" dirty="0">
                          <a:effectLst/>
                        </a:rPr>
                        <a:t>Int</a:t>
                      </a:r>
                      <a:endParaRPr lang="en-IN" sz="1100" dirty="0">
                        <a:effectLst/>
                        <a:latin typeface="Calibri"/>
                        <a:ea typeface="Calibri"/>
                        <a:cs typeface="Shruti"/>
                      </a:endParaRPr>
                    </a:p>
                  </a:txBody>
                  <a:tcPr marL="68580" marR="68580" marT="0" marB="0"/>
                </a:tc>
                <a:tc>
                  <a:txBody>
                    <a:bodyPr/>
                    <a:lstStyle/>
                    <a:p>
                      <a:pPr>
                        <a:lnSpc>
                          <a:spcPct val="115000"/>
                        </a:lnSpc>
                        <a:spcAft>
                          <a:spcPts val="0"/>
                        </a:spcAft>
                      </a:pPr>
                      <a:r>
                        <a:rPr lang="en-GB" sz="1400">
                          <a:effectLst/>
                          <a:latin typeface="Cambria"/>
                          <a:ea typeface="Times New Roman"/>
                          <a:cs typeface="Calibri"/>
                        </a:rPr>
                        <a:t>10</a:t>
                      </a:r>
                      <a:endParaRPr lang="en-IN" sz="1100">
                        <a:effectLst/>
                        <a:latin typeface="Calibri"/>
                        <a:ea typeface="Calibri"/>
                        <a:cs typeface="Shruti"/>
                      </a:endParaRPr>
                    </a:p>
                  </a:txBody>
                  <a:tcPr marL="68580" marR="68580" marT="0" marB="0"/>
                </a:tc>
                <a:tc>
                  <a:txBody>
                    <a:bodyPr/>
                    <a:lstStyle/>
                    <a:p>
                      <a:pPr>
                        <a:lnSpc>
                          <a:spcPct val="115000"/>
                        </a:lnSpc>
                        <a:spcAft>
                          <a:spcPts val="0"/>
                        </a:spcAft>
                      </a:pPr>
                      <a:r>
                        <a:rPr lang="en-IN" sz="1400" i="1" dirty="0">
                          <a:effectLst/>
                        </a:rPr>
                        <a:t>Not null</a:t>
                      </a:r>
                      <a:endParaRPr lang="en-IN" sz="1100" i="1" dirty="0">
                        <a:effectLst/>
                        <a:latin typeface="Calibri"/>
                        <a:ea typeface="Calibri"/>
                        <a:cs typeface="Shruti"/>
                      </a:endParaRPr>
                    </a:p>
                  </a:txBody>
                  <a:tcPr marL="68580" marR="68580" marT="0" marB="0"/>
                </a:tc>
                <a:tc>
                  <a:txBody>
                    <a:bodyPr/>
                    <a:lstStyle/>
                    <a:p>
                      <a:pPr>
                        <a:lnSpc>
                          <a:spcPct val="115000"/>
                        </a:lnSpc>
                        <a:spcAft>
                          <a:spcPts val="0"/>
                        </a:spcAft>
                      </a:pPr>
                      <a:r>
                        <a:rPr lang="en-IN" sz="1400" dirty="0">
                          <a:effectLst/>
                        </a:rPr>
                        <a:t>Store price</a:t>
                      </a:r>
                      <a:endParaRPr lang="en-IN" sz="1100" dirty="0">
                        <a:effectLst/>
                        <a:latin typeface="Calibri"/>
                        <a:ea typeface="Calibri"/>
                        <a:cs typeface="Shruti"/>
                      </a:endParaRPr>
                    </a:p>
                  </a:txBody>
                  <a:tcPr marL="68580" marR="68580" marT="0" marB="0"/>
                </a:tc>
              </a:tr>
              <a:tr h="351741">
                <a:tc>
                  <a:txBody>
                    <a:bodyPr/>
                    <a:lstStyle/>
                    <a:p>
                      <a:pPr>
                        <a:lnSpc>
                          <a:spcPct val="115000"/>
                        </a:lnSpc>
                        <a:spcAft>
                          <a:spcPts val="0"/>
                        </a:spcAft>
                      </a:pPr>
                      <a:r>
                        <a:rPr lang="en-IN" sz="1400" dirty="0">
                          <a:effectLst/>
                        </a:rPr>
                        <a:t>Units</a:t>
                      </a:r>
                      <a:endParaRPr lang="en-IN" sz="1100" dirty="0">
                        <a:effectLst/>
                        <a:latin typeface="Calibri"/>
                        <a:ea typeface="Calibri"/>
                        <a:cs typeface="Shruti"/>
                      </a:endParaRPr>
                    </a:p>
                  </a:txBody>
                  <a:tcPr marL="68580" marR="68580" marT="0" marB="0"/>
                </a:tc>
                <a:tc>
                  <a:txBody>
                    <a:bodyPr/>
                    <a:lstStyle/>
                    <a:p>
                      <a:pPr>
                        <a:lnSpc>
                          <a:spcPct val="115000"/>
                        </a:lnSpc>
                        <a:spcAft>
                          <a:spcPts val="0"/>
                        </a:spcAft>
                      </a:pPr>
                      <a:r>
                        <a:rPr lang="en-GB" sz="1400" dirty="0">
                          <a:effectLst/>
                        </a:rPr>
                        <a:t>Int</a:t>
                      </a:r>
                      <a:endParaRPr lang="en-IN" sz="1100" dirty="0">
                        <a:effectLst/>
                        <a:latin typeface="Calibri"/>
                        <a:ea typeface="Calibri"/>
                        <a:cs typeface="Shruti"/>
                      </a:endParaRPr>
                    </a:p>
                  </a:txBody>
                  <a:tcPr marL="68580" marR="68580" marT="0" marB="0"/>
                </a:tc>
                <a:tc>
                  <a:txBody>
                    <a:bodyPr/>
                    <a:lstStyle/>
                    <a:p>
                      <a:pPr>
                        <a:lnSpc>
                          <a:spcPct val="115000"/>
                        </a:lnSpc>
                        <a:spcAft>
                          <a:spcPts val="0"/>
                        </a:spcAft>
                      </a:pPr>
                      <a:r>
                        <a:rPr lang="en-GB" sz="1400">
                          <a:effectLst/>
                          <a:latin typeface="Cambria"/>
                          <a:ea typeface="Times New Roman"/>
                          <a:cs typeface="Calibri"/>
                        </a:rPr>
                        <a:t>5</a:t>
                      </a:r>
                      <a:endParaRPr lang="en-IN" sz="1100">
                        <a:effectLst/>
                        <a:latin typeface="Calibri"/>
                        <a:ea typeface="Calibri"/>
                        <a:cs typeface="Shruti"/>
                      </a:endParaRPr>
                    </a:p>
                  </a:txBody>
                  <a:tcPr marL="68580" marR="68580" marT="0" marB="0"/>
                </a:tc>
                <a:tc>
                  <a:txBody>
                    <a:bodyPr/>
                    <a:lstStyle/>
                    <a:p>
                      <a:pPr>
                        <a:lnSpc>
                          <a:spcPct val="115000"/>
                        </a:lnSpc>
                        <a:spcAft>
                          <a:spcPts val="0"/>
                        </a:spcAft>
                      </a:pPr>
                      <a:r>
                        <a:rPr lang="en-IN" sz="1400" i="1" dirty="0">
                          <a:effectLst/>
                        </a:rPr>
                        <a:t>Not null</a:t>
                      </a:r>
                      <a:endParaRPr lang="en-IN" sz="1100" i="1" dirty="0">
                        <a:effectLst/>
                        <a:latin typeface="Calibri"/>
                        <a:ea typeface="Calibri"/>
                        <a:cs typeface="Shruti"/>
                      </a:endParaRPr>
                    </a:p>
                  </a:txBody>
                  <a:tcPr marL="68580" marR="68580" marT="0" marB="0"/>
                </a:tc>
                <a:tc>
                  <a:txBody>
                    <a:bodyPr/>
                    <a:lstStyle/>
                    <a:p>
                      <a:pPr>
                        <a:lnSpc>
                          <a:spcPct val="115000"/>
                        </a:lnSpc>
                        <a:spcAft>
                          <a:spcPts val="0"/>
                        </a:spcAft>
                      </a:pPr>
                      <a:r>
                        <a:rPr lang="en-IN" sz="1400" dirty="0">
                          <a:effectLst/>
                        </a:rPr>
                        <a:t>Store units</a:t>
                      </a:r>
                      <a:endParaRPr lang="en-IN" sz="1100" dirty="0">
                        <a:effectLst/>
                        <a:latin typeface="Calibri"/>
                        <a:ea typeface="Calibri"/>
                        <a:cs typeface="Shruti"/>
                      </a:endParaRPr>
                    </a:p>
                  </a:txBody>
                  <a:tcPr marL="68580" marR="68580" marT="0" marB="0"/>
                </a:tc>
              </a:tr>
              <a:tr h="347942">
                <a:tc>
                  <a:txBody>
                    <a:bodyPr/>
                    <a:lstStyle/>
                    <a:p>
                      <a:pPr>
                        <a:lnSpc>
                          <a:spcPct val="115000"/>
                        </a:lnSpc>
                        <a:spcAft>
                          <a:spcPts val="0"/>
                        </a:spcAft>
                      </a:pPr>
                      <a:r>
                        <a:rPr lang="en-IN" sz="1400" dirty="0">
                          <a:effectLst/>
                        </a:rPr>
                        <a:t>Total</a:t>
                      </a:r>
                      <a:endParaRPr lang="en-IN" sz="1100" dirty="0">
                        <a:effectLst/>
                        <a:latin typeface="Calibri"/>
                        <a:ea typeface="Calibri"/>
                        <a:cs typeface="Shruti"/>
                      </a:endParaRPr>
                    </a:p>
                  </a:txBody>
                  <a:tcPr marL="68580" marR="68580" marT="0" marB="0"/>
                </a:tc>
                <a:tc>
                  <a:txBody>
                    <a:bodyPr/>
                    <a:lstStyle/>
                    <a:p>
                      <a:pPr>
                        <a:lnSpc>
                          <a:spcPct val="115000"/>
                        </a:lnSpc>
                        <a:spcAft>
                          <a:spcPts val="0"/>
                        </a:spcAft>
                      </a:pPr>
                      <a:r>
                        <a:rPr lang="en-GB" sz="1400" dirty="0">
                          <a:effectLst/>
                        </a:rPr>
                        <a:t>Int</a:t>
                      </a:r>
                      <a:endParaRPr lang="en-IN" sz="1100" dirty="0">
                        <a:effectLst/>
                        <a:latin typeface="Calibri"/>
                        <a:ea typeface="Calibri"/>
                        <a:cs typeface="Shruti"/>
                      </a:endParaRPr>
                    </a:p>
                  </a:txBody>
                  <a:tcPr marL="68580" marR="68580" marT="0" marB="0"/>
                </a:tc>
                <a:tc>
                  <a:txBody>
                    <a:bodyPr/>
                    <a:lstStyle/>
                    <a:p>
                      <a:pPr>
                        <a:lnSpc>
                          <a:spcPct val="115000"/>
                        </a:lnSpc>
                        <a:spcAft>
                          <a:spcPts val="0"/>
                        </a:spcAft>
                      </a:pPr>
                      <a:r>
                        <a:rPr lang="en-GB" sz="1400">
                          <a:effectLst/>
                          <a:latin typeface="Cambria"/>
                          <a:ea typeface="Times New Roman"/>
                          <a:cs typeface="Calibri"/>
                        </a:rPr>
                        <a:t>15</a:t>
                      </a:r>
                      <a:endParaRPr lang="en-IN" sz="1100">
                        <a:effectLst/>
                        <a:latin typeface="Calibri"/>
                        <a:ea typeface="Calibri"/>
                        <a:cs typeface="Shruti"/>
                      </a:endParaRPr>
                    </a:p>
                  </a:txBody>
                  <a:tcPr marL="68580" marR="68580" marT="0" marB="0"/>
                </a:tc>
                <a:tc>
                  <a:txBody>
                    <a:bodyPr/>
                    <a:lstStyle/>
                    <a:p>
                      <a:pPr>
                        <a:lnSpc>
                          <a:spcPct val="115000"/>
                        </a:lnSpc>
                        <a:spcAft>
                          <a:spcPts val="0"/>
                        </a:spcAft>
                      </a:pPr>
                      <a:r>
                        <a:rPr lang="en-IN" sz="1400" i="1" dirty="0">
                          <a:effectLst/>
                        </a:rPr>
                        <a:t>Not null</a:t>
                      </a:r>
                      <a:endParaRPr lang="en-IN" sz="1100" i="1" dirty="0">
                        <a:effectLst/>
                        <a:latin typeface="Calibri"/>
                        <a:ea typeface="Calibri"/>
                        <a:cs typeface="Shruti"/>
                      </a:endParaRPr>
                    </a:p>
                  </a:txBody>
                  <a:tcPr marL="68580" marR="68580" marT="0" marB="0"/>
                </a:tc>
                <a:tc>
                  <a:txBody>
                    <a:bodyPr/>
                    <a:lstStyle/>
                    <a:p>
                      <a:pPr>
                        <a:lnSpc>
                          <a:spcPct val="115000"/>
                        </a:lnSpc>
                        <a:spcAft>
                          <a:spcPts val="0"/>
                        </a:spcAft>
                      </a:pPr>
                      <a:r>
                        <a:rPr lang="en-IN" sz="1400" dirty="0">
                          <a:effectLst/>
                        </a:rPr>
                        <a:t>Store total</a:t>
                      </a:r>
                      <a:endParaRPr lang="en-IN" sz="1100" dirty="0">
                        <a:effectLst/>
                        <a:latin typeface="Calibri"/>
                        <a:ea typeface="Calibri"/>
                        <a:cs typeface="Shruti"/>
                      </a:endParaRPr>
                    </a:p>
                  </a:txBody>
                  <a:tcPr marL="68580" marR="68580" marT="0" marB="0"/>
                </a:tc>
              </a:tr>
              <a:tr h="347942">
                <a:tc>
                  <a:txBody>
                    <a:bodyPr/>
                    <a:lstStyle/>
                    <a:p>
                      <a:pPr>
                        <a:lnSpc>
                          <a:spcPct val="115000"/>
                        </a:lnSpc>
                        <a:spcAft>
                          <a:spcPts val="0"/>
                        </a:spcAft>
                      </a:pPr>
                      <a:r>
                        <a:rPr lang="en-IN" sz="1400" dirty="0">
                          <a:effectLst/>
                        </a:rPr>
                        <a:t>Date</a:t>
                      </a:r>
                      <a:endParaRPr lang="en-IN" sz="1100" dirty="0">
                        <a:effectLst/>
                        <a:latin typeface="Calibri"/>
                        <a:ea typeface="Calibri"/>
                        <a:cs typeface="Shruti"/>
                      </a:endParaRPr>
                    </a:p>
                  </a:txBody>
                  <a:tcPr marL="68580" marR="68580" marT="0" marB="0"/>
                </a:tc>
                <a:tc>
                  <a:txBody>
                    <a:bodyPr/>
                    <a:lstStyle/>
                    <a:p>
                      <a:pPr>
                        <a:lnSpc>
                          <a:spcPct val="115000"/>
                        </a:lnSpc>
                        <a:spcAft>
                          <a:spcPts val="0"/>
                        </a:spcAft>
                      </a:pPr>
                      <a:r>
                        <a:rPr lang="en-GB" sz="1400" dirty="0">
                          <a:effectLst/>
                        </a:rPr>
                        <a:t>Timestamp</a:t>
                      </a:r>
                      <a:endParaRPr lang="en-IN" sz="1100" dirty="0">
                        <a:effectLst/>
                        <a:latin typeface="Calibri"/>
                        <a:ea typeface="Calibri"/>
                        <a:cs typeface="Shruti"/>
                      </a:endParaRPr>
                    </a:p>
                  </a:txBody>
                  <a:tcPr marL="68580" marR="68580" marT="0" marB="0"/>
                </a:tc>
                <a:tc>
                  <a:txBody>
                    <a:bodyPr/>
                    <a:lstStyle/>
                    <a:p>
                      <a:pPr>
                        <a:lnSpc>
                          <a:spcPct val="115000"/>
                        </a:lnSpc>
                        <a:spcAft>
                          <a:spcPts val="0"/>
                        </a:spcAft>
                      </a:pPr>
                      <a:r>
                        <a:rPr lang="en-GB" sz="1400">
                          <a:effectLst/>
                          <a:latin typeface="Cambria"/>
                          <a:ea typeface="Times New Roman"/>
                          <a:cs typeface="Calibri"/>
                        </a:rPr>
                        <a:t> </a:t>
                      </a:r>
                      <a:endParaRPr lang="en-IN" sz="1100">
                        <a:effectLst/>
                        <a:latin typeface="Calibri"/>
                        <a:ea typeface="Calibri"/>
                        <a:cs typeface="Shruti"/>
                      </a:endParaRPr>
                    </a:p>
                  </a:txBody>
                  <a:tcPr marL="68580" marR="68580" marT="0" marB="0"/>
                </a:tc>
                <a:tc>
                  <a:txBody>
                    <a:bodyPr/>
                    <a:lstStyle/>
                    <a:p>
                      <a:pPr>
                        <a:lnSpc>
                          <a:spcPct val="115000"/>
                        </a:lnSpc>
                        <a:spcAft>
                          <a:spcPts val="0"/>
                        </a:spcAft>
                      </a:pPr>
                      <a:r>
                        <a:rPr lang="en-IN" sz="1400" i="1" dirty="0">
                          <a:effectLst/>
                        </a:rPr>
                        <a:t>Not null</a:t>
                      </a:r>
                      <a:endParaRPr lang="en-IN" sz="1100" i="1" dirty="0">
                        <a:effectLst/>
                        <a:latin typeface="Calibri"/>
                        <a:ea typeface="Calibri"/>
                        <a:cs typeface="Shruti"/>
                      </a:endParaRPr>
                    </a:p>
                  </a:txBody>
                  <a:tcPr marL="68580" marR="68580" marT="0" marB="0"/>
                </a:tc>
                <a:tc>
                  <a:txBody>
                    <a:bodyPr/>
                    <a:lstStyle/>
                    <a:p>
                      <a:pPr>
                        <a:lnSpc>
                          <a:spcPct val="115000"/>
                        </a:lnSpc>
                        <a:spcAft>
                          <a:spcPts val="0"/>
                        </a:spcAft>
                      </a:pPr>
                      <a:r>
                        <a:rPr lang="en-IN" sz="1400" dirty="0">
                          <a:effectLst/>
                        </a:rPr>
                        <a:t>Store date</a:t>
                      </a:r>
                      <a:endParaRPr lang="en-IN" sz="1100" dirty="0">
                        <a:effectLst/>
                        <a:latin typeface="Calibri"/>
                        <a:ea typeface="Calibri"/>
                        <a:cs typeface="Shruti"/>
                      </a:endParaRPr>
                    </a:p>
                  </a:txBody>
                  <a:tcPr marL="68580" marR="68580" marT="0" marB="0"/>
                </a:tc>
              </a:tr>
              <a:tr h="347942">
                <a:tc>
                  <a:txBody>
                    <a:bodyPr/>
                    <a:lstStyle/>
                    <a:p>
                      <a:pPr>
                        <a:lnSpc>
                          <a:spcPct val="115000"/>
                        </a:lnSpc>
                        <a:spcAft>
                          <a:spcPts val="0"/>
                        </a:spcAft>
                      </a:pPr>
                      <a:r>
                        <a:rPr lang="en-IN" sz="1400" dirty="0">
                          <a:effectLst/>
                        </a:rPr>
                        <a:t>Email</a:t>
                      </a:r>
                      <a:endParaRPr lang="en-IN" sz="1100" dirty="0">
                        <a:effectLst/>
                        <a:latin typeface="Calibri"/>
                        <a:ea typeface="Calibri"/>
                        <a:cs typeface="Shruti"/>
                      </a:endParaRPr>
                    </a:p>
                  </a:txBody>
                  <a:tcPr marL="68580" marR="68580" marT="0" marB="0"/>
                </a:tc>
                <a:tc>
                  <a:txBody>
                    <a:bodyPr/>
                    <a:lstStyle/>
                    <a:p>
                      <a:pPr>
                        <a:lnSpc>
                          <a:spcPct val="115000"/>
                        </a:lnSpc>
                        <a:spcAft>
                          <a:spcPts val="0"/>
                        </a:spcAft>
                      </a:pPr>
                      <a:r>
                        <a:rPr lang="en-GB" sz="1400" dirty="0">
                          <a:effectLst/>
                        </a:rPr>
                        <a:t>Varchar</a:t>
                      </a:r>
                      <a:endParaRPr lang="en-IN" sz="1100" dirty="0">
                        <a:effectLst/>
                        <a:latin typeface="Calibri"/>
                        <a:ea typeface="Calibri"/>
                        <a:cs typeface="Shruti"/>
                      </a:endParaRPr>
                    </a:p>
                  </a:txBody>
                  <a:tcPr marL="68580" marR="68580" marT="0" marB="0"/>
                </a:tc>
                <a:tc>
                  <a:txBody>
                    <a:bodyPr/>
                    <a:lstStyle/>
                    <a:p>
                      <a:pPr>
                        <a:lnSpc>
                          <a:spcPct val="115000"/>
                        </a:lnSpc>
                        <a:spcAft>
                          <a:spcPts val="0"/>
                        </a:spcAft>
                      </a:pPr>
                      <a:r>
                        <a:rPr lang="en-GB" sz="1400" dirty="0">
                          <a:effectLst/>
                          <a:latin typeface="Cambria"/>
                          <a:ea typeface="Times New Roman"/>
                          <a:cs typeface="Calibri"/>
                        </a:rPr>
                        <a:t>50</a:t>
                      </a:r>
                      <a:endParaRPr lang="en-IN" sz="1100" dirty="0">
                        <a:effectLst/>
                        <a:latin typeface="Calibri"/>
                        <a:ea typeface="Calibri"/>
                        <a:cs typeface="Shruti"/>
                      </a:endParaRPr>
                    </a:p>
                  </a:txBody>
                  <a:tcPr marL="68580" marR="68580" marT="0" marB="0"/>
                </a:tc>
                <a:tc>
                  <a:txBody>
                    <a:bodyPr/>
                    <a:lstStyle/>
                    <a:p>
                      <a:pPr>
                        <a:lnSpc>
                          <a:spcPct val="115000"/>
                        </a:lnSpc>
                        <a:spcAft>
                          <a:spcPts val="0"/>
                        </a:spcAft>
                      </a:pPr>
                      <a:r>
                        <a:rPr lang="en-IN" sz="1400" i="1" dirty="0">
                          <a:effectLst/>
                        </a:rPr>
                        <a:t>Not null</a:t>
                      </a:r>
                      <a:endParaRPr lang="en-IN" sz="1100" i="1" dirty="0">
                        <a:effectLst/>
                        <a:latin typeface="Calibri"/>
                        <a:ea typeface="Calibri"/>
                        <a:cs typeface="Shruti"/>
                      </a:endParaRPr>
                    </a:p>
                  </a:txBody>
                  <a:tcPr marL="68580" marR="68580" marT="0" marB="0"/>
                </a:tc>
                <a:tc>
                  <a:txBody>
                    <a:bodyPr/>
                    <a:lstStyle/>
                    <a:p>
                      <a:pPr>
                        <a:lnSpc>
                          <a:spcPct val="115000"/>
                        </a:lnSpc>
                        <a:spcAft>
                          <a:spcPts val="0"/>
                        </a:spcAft>
                      </a:pPr>
                      <a:r>
                        <a:rPr lang="en-IN" sz="1400" dirty="0">
                          <a:effectLst/>
                        </a:rPr>
                        <a:t>Store email</a:t>
                      </a:r>
                      <a:endParaRPr lang="en-IN" sz="1100" dirty="0">
                        <a:effectLst/>
                        <a:latin typeface="Calibri"/>
                        <a:ea typeface="Calibri"/>
                        <a:cs typeface="Shruti"/>
                      </a:endParaRPr>
                    </a:p>
                  </a:txBody>
                  <a:tcPr marL="68580" marR="68580" marT="0" marB="0"/>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90600"/>
          </a:xfrm>
        </p:spPr>
        <p:txBody>
          <a:bodyPr>
            <a:normAutofit/>
          </a:bodyPr>
          <a:lstStyle/>
          <a:p>
            <a:pPr algn="ctr"/>
            <a:r>
              <a:rPr lang="en-US" sz="2400" dirty="0" smtClean="0"/>
              <a:t>5.4 SCREEN SHOT</a:t>
            </a:r>
            <a:br>
              <a:rPr lang="en-US" sz="2400" dirty="0" smtClean="0"/>
            </a:br>
            <a:r>
              <a:rPr lang="en-US" sz="2400" dirty="0" smtClean="0"/>
              <a:t>1.HOME PAGE:</a:t>
            </a:r>
            <a:endParaRPr lang="en-US" sz="2400" dirty="0"/>
          </a:p>
        </p:txBody>
      </p:sp>
      <p:pic>
        <p:nvPicPr>
          <p:cNvPr id="6" name="Picture 5" descr="C:\Users\Admin\Pictures\Screenshots\Screenshot (43).png"/>
          <p:cNvPicPr/>
          <p:nvPr/>
        </p:nvPicPr>
        <p:blipFill>
          <a:blip r:embed="rId2" cstate="print"/>
          <a:srcRect/>
          <a:stretch>
            <a:fillRect/>
          </a:stretch>
        </p:blipFill>
        <p:spPr bwMode="auto">
          <a:xfrm>
            <a:off x="457200" y="1295400"/>
            <a:ext cx="8229599" cy="5181599"/>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305800" cy="1143000"/>
          </a:xfrm>
        </p:spPr>
        <p:txBody>
          <a:bodyPr>
            <a:normAutofit/>
          </a:bodyPr>
          <a:lstStyle/>
          <a:p>
            <a:pPr algn="ctr"/>
            <a:r>
              <a:rPr lang="en-US" sz="2400" dirty="0" smtClean="0"/>
              <a:t> 2. REGISTRATION PAGE :</a:t>
            </a:r>
            <a:endParaRPr lang="en-US" sz="2400" dirty="0"/>
          </a:p>
        </p:txBody>
      </p:sp>
      <p:pic>
        <p:nvPicPr>
          <p:cNvPr id="4" name="Picture 3" descr="C:\Users\Admin\Pictures\Screenshots\Screenshot (25).png"/>
          <p:cNvPicPr/>
          <p:nvPr/>
        </p:nvPicPr>
        <p:blipFill>
          <a:blip r:embed="rId2"/>
          <a:srcRect/>
          <a:stretch>
            <a:fillRect/>
          </a:stretch>
        </p:blipFill>
        <p:spPr bwMode="auto">
          <a:xfrm>
            <a:off x="457200" y="1524000"/>
            <a:ext cx="8381999" cy="457200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704088"/>
            <a:ext cx="7543800" cy="896112"/>
          </a:xfrm>
        </p:spPr>
        <p:txBody>
          <a:bodyPr>
            <a:normAutofit/>
          </a:bodyPr>
          <a:lstStyle/>
          <a:p>
            <a:pPr algn="ctr"/>
            <a:r>
              <a:rPr lang="en-US" sz="2400" dirty="0" smtClean="0"/>
              <a:t>3.LOGIN PAGE :</a:t>
            </a:r>
            <a:br>
              <a:rPr lang="en-US" sz="2400" dirty="0" smtClean="0"/>
            </a:br>
            <a:endParaRPr lang="en-US" sz="2400" dirty="0"/>
          </a:p>
        </p:txBody>
      </p:sp>
      <p:pic>
        <p:nvPicPr>
          <p:cNvPr id="4" name="Picture 3" descr="C:\Users\Admin\Pictures\Screenshots\Screenshot (26).png"/>
          <p:cNvPicPr/>
          <p:nvPr/>
        </p:nvPicPr>
        <p:blipFill>
          <a:blip r:embed="rId2" cstate="print"/>
          <a:srcRect/>
          <a:stretch>
            <a:fillRect/>
          </a:stretch>
        </p:blipFill>
        <p:spPr bwMode="auto">
          <a:xfrm>
            <a:off x="457200" y="1676400"/>
            <a:ext cx="8077199" cy="449580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400" dirty="0" smtClean="0"/>
              <a:t>4. CONTACT  PAGE :</a:t>
            </a:r>
            <a:br>
              <a:rPr lang="en-US" sz="2400" dirty="0" smtClean="0"/>
            </a:br>
            <a:endParaRPr lang="en-US" sz="2400" dirty="0"/>
          </a:p>
        </p:txBody>
      </p:sp>
      <p:pic>
        <p:nvPicPr>
          <p:cNvPr id="4" name="Picture 3" descr="C:\Users\Admin\Pictures\Screenshots\Screenshot (27).png"/>
          <p:cNvPicPr/>
          <p:nvPr/>
        </p:nvPicPr>
        <p:blipFill>
          <a:blip r:embed="rId2"/>
          <a:srcRect/>
          <a:stretch>
            <a:fillRect/>
          </a:stretch>
        </p:blipFill>
        <p:spPr bwMode="auto">
          <a:xfrm>
            <a:off x="533400" y="1524000"/>
            <a:ext cx="8153399" cy="472440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400" dirty="0" smtClean="0"/>
              <a:t>5. PRODUCT  PAGE :</a:t>
            </a:r>
            <a:br>
              <a:rPr lang="en-US" sz="2400" dirty="0" smtClean="0"/>
            </a:br>
            <a:endParaRPr lang="en-US" sz="2400" dirty="0"/>
          </a:p>
        </p:txBody>
      </p:sp>
      <p:pic>
        <p:nvPicPr>
          <p:cNvPr id="4" name="Picture 3" descr="C:\Users\Admin\Pictures\Screenshots\Screenshot (42).png"/>
          <p:cNvPicPr/>
          <p:nvPr/>
        </p:nvPicPr>
        <p:blipFill>
          <a:blip r:embed="rId2" cstate="print"/>
          <a:srcRect/>
          <a:stretch>
            <a:fillRect/>
          </a:stretch>
        </p:blipFill>
        <p:spPr bwMode="auto">
          <a:xfrm>
            <a:off x="533400" y="1752600"/>
            <a:ext cx="8229599" cy="441960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Users\Admin\Pictures\Screenshots\Screenshot (45).png"/>
          <p:cNvPicPr/>
          <p:nvPr/>
        </p:nvPicPr>
        <p:blipFill>
          <a:blip r:embed="rId2"/>
          <a:srcRect/>
          <a:stretch>
            <a:fillRect/>
          </a:stretch>
        </p:blipFill>
        <p:spPr bwMode="auto">
          <a:xfrm>
            <a:off x="685800" y="1752600"/>
            <a:ext cx="7848599" cy="4572000"/>
          </a:xfrm>
          <a:prstGeom prst="rect">
            <a:avLst/>
          </a:prstGeom>
          <a:noFill/>
          <a:ln w="9525">
            <a:noFill/>
            <a:miter lim="800000"/>
            <a:headEnd/>
            <a:tailEnd/>
          </a:ln>
        </p:spPr>
      </p:pic>
      <p:sp>
        <p:nvSpPr>
          <p:cNvPr id="5" name="TextBox 4"/>
          <p:cNvSpPr txBox="1"/>
          <p:nvPr/>
        </p:nvSpPr>
        <p:spPr>
          <a:xfrm>
            <a:off x="0" y="838200"/>
            <a:ext cx="9144000" cy="369332"/>
          </a:xfrm>
          <a:prstGeom prst="rect">
            <a:avLst/>
          </a:prstGeom>
          <a:solidFill>
            <a:schemeClr val="bg1"/>
          </a:solidFill>
        </p:spPr>
        <p:txBody>
          <a:bodyPr wrap="square" rtlCol="0">
            <a:spAutoFit/>
          </a:bodyPr>
          <a:lstStyle/>
          <a:p>
            <a:pPr algn="ctr"/>
            <a:r>
              <a:rPr lang="en-IN" b="1" dirty="0" smtClean="0"/>
              <a:t>6.View cart</a:t>
            </a:r>
            <a:endParaRPr lang="en-US" b="1"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559</TotalTime>
  <Words>540</Words>
  <Application>Microsoft Office PowerPoint</Application>
  <PresentationFormat>On-screen Show (4:3)</PresentationFormat>
  <Paragraphs>203</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Flow</vt:lpstr>
      <vt:lpstr>     ONLINE JEWELLERY SHOP Tanishq jewellery</vt:lpstr>
      <vt:lpstr>            Project Profile </vt:lpstr>
      <vt:lpstr>INTRODUTION </vt:lpstr>
      <vt:lpstr>HARDWARE &amp; SOFTWARE REQUIREMENT  </vt:lpstr>
      <vt:lpstr>SOFTWARE REQUIREMENT </vt:lpstr>
      <vt:lpstr>Data Flow diagram (DFD ) </vt:lpstr>
      <vt:lpstr>FIRST LEVEL FOR USER SIDE: </vt:lpstr>
      <vt:lpstr>FIRST LEVEL DFD FOR ADMIN : </vt:lpstr>
      <vt:lpstr>E-R DIGRAM: </vt:lpstr>
      <vt:lpstr>USER TABLE: </vt:lpstr>
      <vt:lpstr>PRODUCT TABLE:</vt:lpstr>
      <vt:lpstr>ORDER TABLE:</vt:lpstr>
      <vt:lpstr>5.4 SCREEN SHOT 1.HOME PAGE:</vt:lpstr>
      <vt:lpstr> 2. REGISTRATION PAGE :</vt:lpstr>
      <vt:lpstr>3.LOGIN PAGE : </vt:lpstr>
      <vt:lpstr>4. CONTACT  PAGE : </vt:lpstr>
      <vt:lpstr>5. PRODUCT  PAGE : </vt:lpstr>
      <vt:lpstr>Slide 18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JEWELLERY SHOP Tanishq jewellery</dc:title>
  <dc:creator>Admin</dc:creator>
  <cp:lastModifiedBy>Admin</cp:lastModifiedBy>
  <cp:revision>83</cp:revision>
  <dcterms:created xsi:type="dcterms:W3CDTF">2024-02-24T04:27:36Z</dcterms:created>
  <dcterms:modified xsi:type="dcterms:W3CDTF">2024-03-21T15:14:45Z</dcterms:modified>
</cp:coreProperties>
</file>